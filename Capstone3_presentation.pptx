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5"/>
  </p:notesMasterIdLst>
  <p:sldIdLst>
    <p:sldId id="256" r:id="rId2"/>
    <p:sldId id="257" r:id="rId3"/>
    <p:sldId id="261" r:id="rId4"/>
    <p:sldId id="262" r:id="rId5"/>
    <p:sldId id="263" r:id="rId6"/>
    <p:sldId id="264" r:id="rId7"/>
    <p:sldId id="265" r:id="rId8"/>
    <p:sldId id="266" r:id="rId9"/>
    <p:sldId id="267" r:id="rId10"/>
    <p:sldId id="268" r:id="rId11"/>
    <p:sldId id="269" r:id="rId12"/>
    <p:sldId id="270" r:id="rId13"/>
    <p:sldId id="271"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5" autoAdjust="0"/>
    <p:restoredTop sz="81386" autoAdjust="0"/>
  </p:normalViewPr>
  <p:slideViewPr>
    <p:cSldViewPr snapToGrid="0">
      <p:cViewPr varScale="1">
        <p:scale>
          <a:sx n="105" d="100"/>
          <a:sy n="105" d="100"/>
        </p:scale>
        <p:origin x="774" y="11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4C8282-7D3D-40C1-BFCF-1304E3E5B986}" type="datetimeFigureOut">
              <a:rPr lang="en-US" smtClean="0"/>
              <a:t>9/22/2026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B7151E-9EF4-42A1-9453-1F831BFCE0A6}" type="slidenum">
              <a:rPr lang="en-US" smtClean="0"/>
              <a:t>‹#›</a:t>
            </a:fld>
            <a:endParaRPr lang="en-US"/>
          </a:p>
        </p:txBody>
      </p:sp>
    </p:spTree>
    <p:extLst>
      <p:ext uri="{BB962C8B-B14F-4D97-AF65-F5344CB8AC3E}">
        <p14:creationId xmlns:p14="http://schemas.microsoft.com/office/powerpoint/2010/main" val="1950621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I’ll be presenting my analysis on Stroke Risk Prediction. The goal of this project was to use machine learning to identify individuals who may be at an elevated risk of stroke</a:t>
            </a:r>
          </a:p>
        </p:txBody>
      </p:sp>
      <p:sp>
        <p:nvSpPr>
          <p:cNvPr id="4" name="Slide Number Placeholder 3"/>
          <p:cNvSpPr>
            <a:spLocks noGrp="1"/>
          </p:cNvSpPr>
          <p:nvPr>
            <p:ph type="sldNum" sz="quarter" idx="5"/>
          </p:nvPr>
        </p:nvSpPr>
        <p:spPr/>
        <p:txBody>
          <a:bodyPr/>
          <a:lstStyle/>
          <a:p>
            <a:fld id="{32B7151E-9EF4-42A1-9453-1F831BFCE0A6}" type="slidenum">
              <a:rPr lang="en-US" smtClean="0"/>
              <a:t>1</a:t>
            </a:fld>
            <a:endParaRPr lang="en-US"/>
          </a:p>
        </p:txBody>
      </p:sp>
    </p:spTree>
    <p:extLst>
      <p:ext uri="{BB962C8B-B14F-4D97-AF65-F5344CB8AC3E}">
        <p14:creationId xmlns:p14="http://schemas.microsoft.com/office/powerpoint/2010/main" val="28959648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According to the World Health Organization, stroke is the third-leading cause of death and disability globally, making it a major public health concern. The goal of this project is to develop a machine-learning model that can identify individuals who may be at an elevated risk of stroke using demographic, medical, and lifestyle factors such as age, hypertension, heart disease, glucose level, BMI, and smoking status.</a:t>
            </a:r>
          </a:p>
        </p:txBody>
      </p:sp>
      <p:sp>
        <p:nvSpPr>
          <p:cNvPr id="4" name="Slide Number Placeholder 3"/>
          <p:cNvSpPr>
            <a:spLocks noGrp="1"/>
          </p:cNvSpPr>
          <p:nvPr>
            <p:ph type="sldNum" sz="quarter" idx="5"/>
          </p:nvPr>
        </p:nvSpPr>
        <p:spPr/>
        <p:txBody>
          <a:bodyPr/>
          <a:lstStyle/>
          <a:p>
            <a:fld id="{32B7151E-9EF4-42A1-9453-1F831BFCE0A6}" type="slidenum">
              <a:rPr lang="en-US" smtClean="0"/>
              <a:t>2</a:t>
            </a:fld>
            <a:endParaRPr lang="en-US"/>
          </a:p>
        </p:txBody>
      </p:sp>
    </p:spTree>
    <p:extLst>
      <p:ext uri="{BB962C8B-B14F-4D97-AF65-F5344CB8AC3E}">
        <p14:creationId xmlns:p14="http://schemas.microsoft.com/office/powerpoint/2010/main" val="4909874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project, I used a stroke prediction dataset from Kaggle containing 5,110 patient records. The dataset includes demographic, medical, and lifestyle information such as age, hypertension, heart disease, average glucose level, BMI, and smoking status. The target variable indicates whether or not the patient experienced a stroke. One of the biggest challenges with this dataset is class imbalance. Only 249 patients, or about 4.9%, experienced a stroke, while about 95% did not. As you can see from this chart, the stroke cases represent a very small portion of the dataset. This class imbalance became an important consideration when evaluating the models.</a:t>
            </a:r>
          </a:p>
        </p:txBody>
      </p:sp>
      <p:sp>
        <p:nvSpPr>
          <p:cNvPr id="4" name="Slide Number Placeholder 3"/>
          <p:cNvSpPr>
            <a:spLocks noGrp="1"/>
          </p:cNvSpPr>
          <p:nvPr>
            <p:ph type="sldNum" sz="quarter" idx="5"/>
          </p:nvPr>
        </p:nvSpPr>
        <p:spPr/>
        <p:txBody>
          <a:bodyPr/>
          <a:lstStyle/>
          <a:p>
            <a:fld id="{32B7151E-9EF4-42A1-9453-1F831BFCE0A6}" type="slidenum">
              <a:rPr lang="en-US" smtClean="0"/>
              <a:t>3</a:t>
            </a:fld>
            <a:endParaRPr lang="en-US"/>
          </a:p>
        </p:txBody>
      </p:sp>
    </p:spTree>
    <p:extLst>
      <p:ext uri="{BB962C8B-B14F-4D97-AF65-F5344CB8AC3E}">
        <p14:creationId xmlns:p14="http://schemas.microsoft.com/office/powerpoint/2010/main" val="20655522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my overall approach. I started with data wrangling and exploratory data analysis to understand the dataset and identify important patterns and data-quality issues. I then preprocessed the data and trained four classification models: a dummy classifier, logistic regression, a decision tree, and a random forest. I compared their performance, performed hyperparameter tuning, and then selected the best-performing model for final evaluation on the test set.</a:t>
            </a:r>
          </a:p>
          <a:p>
            <a:r>
              <a:rPr lang="en-US" dirty="0"/>
              <a:t>I’ll start by showing some of the key findings from the exploratory data analysis</a:t>
            </a:r>
          </a:p>
        </p:txBody>
      </p:sp>
      <p:sp>
        <p:nvSpPr>
          <p:cNvPr id="4" name="Slide Number Placeholder 3"/>
          <p:cNvSpPr>
            <a:spLocks noGrp="1"/>
          </p:cNvSpPr>
          <p:nvPr>
            <p:ph type="sldNum" sz="quarter" idx="5"/>
          </p:nvPr>
        </p:nvSpPr>
        <p:spPr/>
        <p:txBody>
          <a:bodyPr/>
          <a:lstStyle/>
          <a:p>
            <a:fld id="{32B7151E-9EF4-42A1-9453-1F831BFCE0A6}" type="slidenum">
              <a:rPr lang="en-US" smtClean="0"/>
              <a:t>4</a:t>
            </a:fld>
            <a:endParaRPr lang="en-US"/>
          </a:p>
        </p:txBody>
      </p:sp>
    </p:spTree>
    <p:extLst>
      <p:ext uri="{BB962C8B-B14F-4D97-AF65-F5344CB8AC3E}">
        <p14:creationId xmlns:p14="http://schemas.microsoft.com/office/powerpoint/2010/main" val="22592500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exploratory data analysis, two patterns stood out. First, the dataset is highly imbalanced, with only about 4.9% of patients having experienced a stroke. Second, age showed a clear association with stroke status, with stroke cases occurring more frequently among older individuals.</a:t>
            </a:r>
          </a:p>
        </p:txBody>
      </p:sp>
      <p:sp>
        <p:nvSpPr>
          <p:cNvPr id="4" name="Slide Number Placeholder 3"/>
          <p:cNvSpPr>
            <a:spLocks noGrp="1"/>
          </p:cNvSpPr>
          <p:nvPr>
            <p:ph type="sldNum" sz="quarter" idx="5"/>
          </p:nvPr>
        </p:nvSpPr>
        <p:spPr/>
        <p:txBody>
          <a:bodyPr/>
          <a:lstStyle/>
          <a:p>
            <a:fld id="{32B7151E-9EF4-42A1-9453-1F831BFCE0A6}" type="slidenum">
              <a:rPr lang="en-US" smtClean="0"/>
              <a:t>5</a:t>
            </a:fld>
            <a:endParaRPr lang="en-US"/>
          </a:p>
        </p:txBody>
      </p:sp>
    </p:spTree>
    <p:extLst>
      <p:ext uri="{BB962C8B-B14F-4D97-AF65-F5344CB8AC3E}">
        <p14:creationId xmlns:p14="http://schemas.microsoft.com/office/powerpoint/2010/main" val="5160076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also examined several medical and lifestyle factors. Stroke rates were higher among patients with hypertension and heart disease. Average glucose levels also tended to be higher among stroke patients. These findings suggested that these variables could provide useful information for the prediction models. Based on these findings, I prepared the data for machine-learning modeling.</a:t>
            </a:r>
          </a:p>
        </p:txBody>
      </p:sp>
      <p:sp>
        <p:nvSpPr>
          <p:cNvPr id="4" name="Slide Number Placeholder 3"/>
          <p:cNvSpPr>
            <a:spLocks noGrp="1"/>
          </p:cNvSpPr>
          <p:nvPr>
            <p:ph type="sldNum" sz="quarter" idx="5"/>
          </p:nvPr>
        </p:nvSpPr>
        <p:spPr/>
        <p:txBody>
          <a:bodyPr/>
          <a:lstStyle/>
          <a:p>
            <a:fld id="{32B7151E-9EF4-42A1-9453-1F831BFCE0A6}" type="slidenum">
              <a:rPr lang="en-US" smtClean="0"/>
              <a:t>6</a:t>
            </a:fld>
            <a:endParaRPr lang="en-US"/>
          </a:p>
        </p:txBody>
      </p:sp>
    </p:spTree>
    <p:extLst>
      <p:ext uri="{BB962C8B-B14F-4D97-AF65-F5344CB8AC3E}">
        <p14:creationId xmlns:p14="http://schemas.microsoft.com/office/powerpoint/2010/main" val="32374293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00" b="0" dirty="0"/>
              <a:t>Before training the models, I split the data into 80% training and 20% testing sets. Because stroke cases represented only about 4.9% of the dataset, I used a stratified split to maintain approximately the same proportion of stroke cases in both sets.</a:t>
            </a:r>
          </a:p>
          <a:p>
            <a:r>
              <a:rPr lang="en-US" sz="800" b="0" dirty="0"/>
              <a:t>For the numerical features, I imputed missing values using the median and then standardized the variables. For categorical features, I used most-frequent imputation followed by one-hot encoding. The binary hypertension and heart-disease variables were already numeric, so they were passed through without additional transformation.</a:t>
            </a:r>
          </a:p>
          <a:p>
            <a:r>
              <a:rPr lang="en-US" sz="800" b="0" dirty="0"/>
              <a:t>Finally, I combined these preprocessing steps into a pipeline so that preprocessing was learned from the training data and applied consistently throughout model evaluation. This also helped prevent data leakage.</a:t>
            </a:r>
          </a:p>
          <a:p>
            <a:endParaRPr lang="en-US" sz="800" b="0" dirty="0"/>
          </a:p>
        </p:txBody>
      </p:sp>
      <p:sp>
        <p:nvSpPr>
          <p:cNvPr id="4" name="Slide Number Placeholder 3"/>
          <p:cNvSpPr>
            <a:spLocks noGrp="1"/>
          </p:cNvSpPr>
          <p:nvPr>
            <p:ph type="sldNum" sz="quarter" idx="5"/>
          </p:nvPr>
        </p:nvSpPr>
        <p:spPr/>
        <p:txBody>
          <a:bodyPr/>
          <a:lstStyle/>
          <a:p>
            <a:fld id="{32B7151E-9EF4-42A1-9453-1F831BFCE0A6}" type="slidenum">
              <a:rPr lang="en-US" smtClean="0"/>
              <a:t>7</a:t>
            </a:fld>
            <a:endParaRPr lang="en-US"/>
          </a:p>
        </p:txBody>
      </p:sp>
    </p:spTree>
    <p:extLst>
      <p:ext uri="{BB962C8B-B14F-4D97-AF65-F5344CB8AC3E}">
        <p14:creationId xmlns:p14="http://schemas.microsoft.com/office/powerpoint/2010/main" val="4895900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Next, I compared the four models using five-fold stratified cross-validation. Because the dataset is highly imbalanced, I didn't want to select a model based on accuracy alone.</a:t>
            </a:r>
          </a:p>
          <a:p>
            <a:r>
              <a:rPr lang="en-US" b="0" dirty="0"/>
              <a:t>For example, the dummy classifier achieved about 95% accuracy simply by predicting the majority class, but its recall was zero, meaning it failed to identify any stroke cases.</a:t>
            </a:r>
          </a:p>
          <a:p>
            <a:r>
              <a:rPr lang="en-US" b="0" dirty="0"/>
              <a:t>The random forest also achieved about 95% accuracy, but its recall was extremely low at 0.005. In comparison, logistic regression had lower overall accuracy at about 74%, but it achieved a recall of approximately 79%, along with the highest F1-score, ROC-AUC, and PR-AUC among the four models.</a:t>
            </a:r>
          </a:p>
          <a:p>
            <a:r>
              <a:rPr lang="en-US" b="0" dirty="0"/>
              <a:t>Since identifying stroke cases was the primary objective, logistic regression provided the best overall balance of performance</a:t>
            </a:r>
          </a:p>
          <a:p>
            <a:r>
              <a:rPr lang="en-US" dirty="0"/>
              <a:t>After this initial comparison, I performed hyperparameter tuning to see whether the models could be improved.</a:t>
            </a:r>
            <a:endParaRPr lang="en-US" b="0" dirty="0"/>
          </a:p>
          <a:p>
            <a:endParaRPr lang="en-US" dirty="0"/>
          </a:p>
        </p:txBody>
      </p:sp>
      <p:sp>
        <p:nvSpPr>
          <p:cNvPr id="4" name="Slide Number Placeholder 3"/>
          <p:cNvSpPr>
            <a:spLocks noGrp="1"/>
          </p:cNvSpPr>
          <p:nvPr>
            <p:ph type="sldNum" sz="quarter" idx="5"/>
          </p:nvPr>
        </p:nvSpPr>
        <p:spPr/>
        <p:txBody>
          <a:bodyPr/>
          <a:lstStyle/>
          <a:p>
            <a:fld id="{32B7151E-9EF4-42A1-9453-1F831BFCE0A6}" type="slidenum">
              <a:rPr lang="en-US" smtClean="0"/>
              <a:t>8</a:t>
            </a:fld>
            <a:endParaRPr lang="en-US"/>
          </a:p>
        </p:txBody>
      </p:sp>
    </p:spTree>
    <p:extLst>
      <p:ext uri="{BB962C8B-B14F-4D97-AF65-F5344CB8AC3E}">
        <p14:creationId xmlns:p14="http://schemas.microsoft.com/office/powerpoint/2010/main" val="21681953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After the initial model comparison, I used </a:t>
            </a:r>
            <a:r>
              <a:rPr lang="en-US" b="0" dirty="0" err="1"/>
              <a:t>GridSearchCV</a:t>
            </a:r>
            <a:r>
              <a:rPr lang="en-US" b="0" dirty="0"/>
              <a:t> to perform hyperparameter tuning, using PR-AUC as the optimization metric because of the class imbalance.</a:t>
            </a:r>
          </a:p>
          <a:p>
            <a:r>
              <a:rPr lang="en-US" b="0" dirty="0"/>
              <a:t>Tuning significantly improved the performance of the decision tree and random forest. The random forest, for example, improved its recall from almost zero to approximately 77%.</a:t>
            </a:r>
          </a:p>
          <a:p>
            <a:r>
              <a:rPr lang="en-US" b="0" dirty="0"/>
              <a:t>However, logistic regression still achieved the highest recall at approximately 79% and the highest PR-AUC at 0.193. Its performance also remained essentially unchanged after tuning, suggesting that the original configuration was already performing well within the parameter range I tested.</a:t>
            </a:r>
          </a:p>
          <a:p>
            <a:r>
              <a:rPr lang="en-US" b="0" dirty="0"/>
              <a:t>Based on these results, I selected logistic regression as my final model.</a:t>
            </a:r>
          </a:p>
          <a:p>
            <a:r>
              <a:rPr lang="en-US" dirty="0"/>
              <a:t>After selecting logistic regression, I evaluated it one final time on the unseen test data.</a:t>
            </a:r>
          </a:p>
          <a:p>
            <a:endParaRPr lang="en-US" dirty="0"/>
          </a:p>
        </p:txBody>
      </p:sp>
      <p:sp>
        <p:nvSpPr>
          <p:cNvPr id="4" name="Slide Number Placeholder 3"/>
          <p:cNvSpPr>
            <a:spLocks noGrp="1"/>
          </p:cNvSpPr>
          <p:nvPr>
            <p:ph type="sldNum" sz="quarter" idx="5"/>
          </p:nvPr>
        </p:nvSpPr>
        <p:spPr/>
        <p:txBody>
          <a:bodyPr/>
          <a:lstStyle/>
          <a:p>
            <a:fld id="{32B7151E-9EF4-42A1-9453-1F831BFCE0A6}" type="slidenum">
              <a:rPr lang="en-US" smtClean="0"/>
              <a:t>9</a:t>
            </a:fld>
            <a:endParaRPr lang="en-US"/>
          </a:p>
        </p:txBody>
      </p:sp>
    </p:spTree>
    <p:extLst>
      <p:ext uri="{BB962C8B-B14F-4D97-AF65-F5344CB8AC3E}">
        <p14:creationId xmlns:p14="http://schemas.microsoft.com/office/powerpoint/2010/main" val="31226898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After selecting logistic regression as the final model, I evaluated it on the unseen test set. The model achieved an accuracy of about 75%, a recall of 80%, and a ROC-AUC of 0.844.</a:t>
            </a:r>
          </a:p>
          <a:p>
            <a:r>
              <a:rPr lang="en-US" b="0" dirty="0"/>
              <a:t>For this project, recall is particularly important. Looking at the confusion matrix, there were 50 stroke cases in the test set, and the model correctly identified 40 of them while missing 10. This resulted in a recall of 80%.</a:t>
            </a:r>
          </a:p>
          <a:p>
            <a:r>
              <a:rPr lang="en-US" b="0" dirty="0"/>
              <a:t>However, there is a tradeoff. The model's precision was only about 14%, and it incorrectly classified 250 non-stroke patients as stroke cases. So while the model was able to identify a large proportion of the stroke cases, it also produced many false positives.</a:t>
            </a:r>
          </a:p>
          <a:p>
            <a:r>
              <a:rPr lang="en-US" dirty="0"/>
              <a:t>To further evaluate how well the model distinguished between the two classes, I examined the ROC and precision-recall curves.</a:t>
            </a:r>
          </a:p>
        </p:txBody>
      </p:sp>
      <p:sp>
        <p:nvSpPr>
          <p:cNvPr id="4" name="Slide Number Placeholder 3"/>
          <p:cNvSpPr>
            <a:spLocks noGrp="1"/>
          </p:cNvSpPr>
          <p:nvPr>
            <p:ph type="sldNum" sz="quarter" idx="5"/>
          </p:nvPr>
        </p:nvSpPr>
        <p:spPr/>
        <p:txBody>
          <a:bodyPr/>
          <a:lstStyle/>
          <a:p>
            <a:fld id="{32B7151E-9EF4-42A1-9453-1F831BFCE0A6}" type="slidenum">
              <a:rPr lang="en-US" smtClean="0"/>
              <a:t>10</a:t>
            </a:fld>
            <a:endParaRPr lang="en-US"/>
          </a:p>
        </p:txBody>
      </p:sp>
    </p:spTree>
    <p:extLst>
      <p:ext uri="{BB962C8B-B14F-4D97-AF65-F5344CB8AC3E}">
        <p14:creationId xmlns:p14="http://schemas.microsoft.com/office/powerpoint/2010/main" val="20226318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also evaluated the final logistic regression model using the ROC and precision-recall curves. The ROC-AUC was 0.844. This indicates that the model was reasonably effective at distinguishing between stroke and non-stroke cases across different classification thresholds. The PR-AUC was 0.268. This value is lower because precision-recall performance is strongly affected by the class imbalance, with stroke cases representing only about 4.9% of the dataset. The precision-recall curve is especially useful for this project because it focuses on the model's performance for the minority stroke class and shows the tradeoff between identifying more stroke cases and generating more false positives.</a:t>
            </a:r>
          </a:p>
        </p:txBody>
      </p:sp>
      <p:sp>
        <p:nvSpPr>
          <p:cNvPr id="4" name="Slide Number Placeholder 3"/>
          <p:cNvSpPr>
            <a:spLocks noGrp="1"/>
          </p:cNvSpPr>
          <p:nvPr>
            <p:ph type="sldNum" sz="quarter" idx="5"/>
          </p:nvPr>
        </p:nvSpPr>
        <p:spPr/>
        <p:txBody>
          <a:bodyPr/>
          <a:lstStyle/>
          <a:p>
            <a:fld id="{32B7151E-9EF4-42A1-9453-1F831BFCE0A6}" type="slidenum">
              <a:rPr lang="en-US" smtClean="0"/>
              <a:t>11</a:t>
            </a:fld>
            <a:endParaRPr lang="en-US"/>
          </a:p>
        </p:txBody>
      </p:sp>
    </p:spTree>
    <p:extLst>
      <p:ext uri="{BB962C8B-B14F-4D97-AF65-F5344CB8AC3E}">
        <p14:creationId xmlns:p14="http://schemas.microsoft.com/office/powerpoint/2010/main" val="9450354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this project demonstrated the challenges of predicting stroke using a highly imbalanced dataset. Although some models achieved higher overall accuracy, logistic regression provided the best balance for identifying stroke cases. On the unseen test set, the final model identified 80% of the stroke cases and achieved a ROC-AUC of 0.844 and a PR-AUC of 0.268. However, this higher recall came with a tradeoff. The model had relatively low precision and generated a substantial number of false positives. Therefore, this model should not be viewed as a clinical diagnostic tool. Instead, the project demonstrates how machine learning could potentially be used as a screening approach to identify individuals who may require further evaluation.</a:t>
            </a:r>
          </a:p>
        </p:txBody>
      </p:sp>
      <p:sp>
        <p:nvSpPr>
          <p:cNvPr id="4" name="Slide Number Placeholder 3"/>
          <p:cNvSpPr>
            <a:spLocks noGrp="1"/>
          </p:cNvSpPr>
          <p:nvPr>
            <p:ph type="sldNum" sz="quarter" idx="5"/>
          </p:nvPr>
        </p:nvSpPr>
        <p:spPr/>
        <p:txBody>
          <a:bodyPr/>
          <a:lstStyle/>
          <a:p>
            <a:fld id="{32B7151E-9EF4-42A1-9453-1F831BFCE0A6}" type="slidenum">
              <a:rPr lang="en-US" smtClean="0"/>
              <a:t>12</a:t>
            </a:fld>
            <a:endParaRPr lang="en-US"/>
          </a:p>
        </p:txBody>
      </p:sp>
    </p:spTree>
    <p:extLst>
      <p:ext uri="{BB962C8B-B14F-4D97-AF65-F5344CB8AC3E}">
        <p14:creationId xmlns:p14="http://schemas.microsoft.com/office/powerpoint/2010/main" val="23105817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results, there are several opportunities for future improvement. First, the model should be considered a potential screening or decision-support approach rather than a diagnostic tool. One of the main priorities for future development would be improving precision while maintaining high recall. The current model identifies 80% of stroke cases, but it also generates many false positives. Future work could explore adjusting the classification threshold, testing additional machine-learning models and class-imbalance techniques, and incorporating additional clinically relevant predictors. Finally, the model should be evaluated using larger and more representative patient datasets before considering any real-world application.</a:t>
            </a:r>
          </a:p>
        </p:txBody>
      </p:sp>
      <p:sp>
        <p:nvSpPr>
          <p:cNvPr id="4" name="Slide Number Placeholder 3"/>
          <p:cNvSpPr>
            <a:spLocks noGrp="1"/>
          </p:cNvSpPr>
          <p:nvPr>
            <p:ph type="sldNum" sz="quarter" idx="5"/>
          </p:nvPr>
        </p:nvSpPr>
        <p:spPr/>
        <p:txBody>
          <a:bodyPr/>
          <a:lstStyle/>
          <a:p>
            <a:fld id="{32B7151E-9EF4-42A1-9453-1F831BFCE0A6}" type="slidenum">
              <a:rPr lang="en-US" smtClean="0"/>
              <a:t>13</a:t>
            </a:fld>
            <a:endParaRPr lang="en-US"/>
          </a:p>
        </p:txBody>
      </p:sp>
    </p:spTree>
    <p:extLst>
      <p:ext uri="{BB962C8B-B14F-4D97-AF65-F5344CB8AC3E}">
        <p14:creationId xmlns:p14="http://schemas.microsoft.com/office/powerpoint/2010/main" val="6798749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16AE520-6092-4CFA-BF2C-882FA1C4D583}"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A1C1E0-2E63-4742-A214-A73A8C73E7E5}" type="slidenum">
              <a:rPr lang="en-US" smtClean="0"/>
              <a:t>‹#›</a:t>
            </a:fld>
            <a:endParaRPr lang="en-US"/>
          </a:p>
        </p:txBody>
      </p:sp>
    </p:spTree>
    <p:extLst>
      <p:ext uri="{BB962C8B-B14F-4D97-AF65-F5344CB8AC3E}">
        <p14:creationId xmlns:p14="http://schemas.microsoft.com/office/powerpoint/2010/main" val="942067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AE520-6092-4CFA-BF2C-882FA1C4D583}"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A1C1E0-2E63-4742-A214-A73A8C73E7E5}" type="slidenum">
              <a:rPr lang="en-US" smtClean="0"/>
              <a:t>‹#›</a:t>
            </a:fld>
            <a:endParaRPr lang="en-US"/>
          </a:p>
        </p:txBody>
      </p:sp>
    </p:spTree>
    <p:extLst>
      <p:ext uri="{BB962C8B-B14F-4D97-AF65-F5344CB8AC3E}">
        <p14:creationId xmlns:p14="http://schemas.microsoft.com/office/powerpoint/2010/main" val="2006775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6AE520-6092-4CFA-BF2C-882FA1C4D583}"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A1C1E0-2E63-4742-A214-A73A8C73E7E5}" type="slidenum">
              <a:rPr lang="en-US" smtClean="0"/>
              <a:t>‹#›</a:t>
            </a:fld>
            <a:endParaRPr lang="en-US"/>
          </a:p>
        </p:txBody>
      </p:sp>
    </p:spTree>
    <p:extLst>
      <p:ext uri="{BB962C8B-B14F-4D97-AF65-F5344CB8AC3E}">
        <p14:creationId xmlns:p14="http://schemas.microsoft.com/office/powerpoint/2010/main" val="3970864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6AE520-6092-4CFA-BF2C-882FA1C4D583}"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A1C1E0-2E63-4742-A214-A73A8C73E7E5}" type="slidenum">
              <a:rPr lang="en-US" smtClean="0"/>
              <a:t>‹#›</a:t>
            </a:fld>
            <a:endParaRPr lang="en-US"/>
          </a:p>
        </p:txBody>
      </p:sp>
    </p:spTree>
    <p:extLst>
      <p:ext uri="{BB962C8B-B14F-4D97-AF65-F5344CB8AC3E}">
        <p14:creationId xmlns:p14="http://schemas.microsoft.com/office/powerpoint/2010/main" val="1279708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6AE520-6092-4CFA-BF2C-882FA1C4D583}" type="datetimeFigureOut">
              <a:rPr lang="en-US" smtClean="0"/>
              <a:t>9/22/2026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DA1C1E0-2E63-4742-A214-A73A8C73E7E5}" type="slidenum">
              <a:rPr lang="en-US" smtClean="0"/>
              <a:t>‹#›</a:t>
            </a:fld>
            <a:endParaRPr lang="en-US"/>
          </a:p>
        </p:txBody>
      </p:sp>
    </p:spTree>
    <p:extLst>
      <p:ext uri="{BB962C8B-B14F-4D97-AF65-F5344CB8AC3E}">
        <p14:creationId xmlns:p14="http://schemas.microsoft.com/office/powerpoint/2010/main" val="37428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6AE520-6092-4CFA-BF2C-882FA1C4D583}" type="datetimeFigureOut">
              <a:rPr lang="en-US" smtClean="0"/>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A1C1E0-2E63-4742-A214-A73A8C73E7E5}" type="slidenum">
              <a:rPr lang="en-US" smtClean="0"/>
              <a:t>‹#›</a:t>
            </a:fld>
            <a:endParaRPr lang="en-US"/>
          </a:p>
        </p:txBody>
      </p:sp>
    </p:spTree>
    <p:extLst>
      <p:ext uri="{BB962C8B-B14F-4D97-AF65-F5344CB8AC3E}">
        <p14:creationId xmlns:p14="http://schemas.microsoft.com/office/powerpoint/2010/main" val="11924485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6AE520-6092-4CFA-BF2C-882FA1C4D583}" type="datetimeFigureOut">
              <a:rPr lang="en-US" smtClean="0"/>
              <a:t>9/22/2026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DA1C1E0-2E63-4742-A214-A73A8C73E7E5}" type="slidenum">
              <a:rPr lang="en-US" smtClean="0"/>
              <a:t>‹#›</a:t>
            </a:fld>
            <a:endParaRPr lang="en-US"/>
          </a:p>
        </p:txBody>
      </p:sp>
    </p:spTree>
    <p:extLst>
      <p:ext uri="{BB962C8B-B14F-4D97-AF65-F5344CB8AC3E}">
        <p14:creationId xmlns:p14="http://schemas.microsoft.com/office/powerpoint/2010/main" val="3007665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6AE520-6092-4CFA-BF2C-882FA1C4D583}"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A1C1E0-2E63-4742-A214-A73A8C73E7E5}" type="slidenum">
              <a:rPr lang="en-US" smtClean="0"/>
              <a:t>‹#›</a:t>
            </a:fld>
            <a:endParaRPr lang="en-US"/>
          </a:p>
        </p:txBody>
      </p:sp>
    </p:spTree>
    <p:extLst>
      <p:ext uri="{BB962C8B-B14F-4D97-AF65-F5344CB8AC3E}">
        <p14:creationId xmlns:p14="http://schemas.microsoft.com/office/powerpoint/2010/main" val="2537640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6AE520-6092-4CFA-BF2C-882FA1C4D583}"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A1C1E0-2E63-4742-A214-A73A8C73E7E5}" type="slidenum">
              <a:rPr lang="en-US" smtClean="0"/>
              <a:t>‹#›</a:t>
            </a:fld>
            <a:endParaRPr lang="en-US"/>
          </a:p>
        </p:txBody>
      </p:sp>
    </p:spTree>
    <p:extLst>
      <p:ext uri="{BB962C8B-B14F-4D97-AF65-F5344CB8AC3E}">
        <p14:creationId xmlns:p14="http://schemas.microsoft.com/office/powerpoint/2010/main" val="837097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6AE520-6092-4CFA-BF2C-882FA1C4D583}"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A1C1E0-2E63-4742-A214-A73A8C73E7E5}" type="slidenum">
              <a:rPr lang="en-US" smtClean="0"/>
              <a:t>‹#›</a:t>
            </a:fld>
            <a:endParaRPr lang="en-US"/>
          </a:p>
        </p:txBody>
      </p:sp>
    </p:spTree>
    <p:extLst>
      <p:ext uri="{BB962C8B-B14F-4D97-AF65-F5344CB8AC3E}">
        <p14:creationId xmlns:p14="http://schemas.microsoft.com/office/powerpoint/2010/main" val="3721373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6AE520-6092-4CFA-BF2C-882FA1C4D583}"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A1C1E0-2E63-4742-A214-A73A8C73E7E5}" type="slidenum">
              <a:rPr lang="en-US" smtClean="0"/>
              <a:t>‹#›</a:t>
            </a:fld>
            <a:endParaRPr lang="en-US"/>
          </a:p>
        </p:txBody>
      </p:sp>
    </p:spTree>
    <p:extLst>
      <p:ext uri="{BB962C8B-B14F-4D97-AF65-F5344CB8AC3E}">
        <p14:creationId xmlns:p14="http://schemas.microsoft.com/office/powerpoint/2010/main" val="34279285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6AE520-6092-4CFA-BF2C-882FA1C4D583}"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A1C1E0-2E63-4742-A214-A73A8C73E7E5}"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1157321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6AE520-6092-4CFA-BF2C-882FA1C4D583}"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A1C1E0-2E63-4742-A214-A73A8C73E7E5}" type="slidenum">
              <a:rPr lang="en-US" smtClean="0"/>
              <a:t>‹#›</a:t>
            </a:fld>
            <a:endParaRPr lang="en-US"/>
          </a:p>
        </p:txBody>
      </p:sp>
    </p:spTree>
    <p:extLst>
      <p:ext uri="{BB962C8B-B14F-4D97-AF65-F5344CB8AC3E}">
        <p14:creationId xmlns:p14="http://schemas.microsoft.com/office/powerpoint/2010/main" val="23073607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16AE520-6092-4CFA-BF2C-882FA1C4D583}" type="datetimeFigureOut">
              <a:rPr lang="en-US" smtClean="0"/>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A1C1E0-2E63-4742-A214-A73A8C73E7E5}" type="slidenum">
              <a:rPr lang="en-US" smtClean="0"/>
              <a:t>‹#›</a:t>
            </a:fld>
            <a:endParaRPr lang="en-US"/>
          </a:p>
        </p:txBody>
      </p:sp>
    </p:spTree>
    <p:extLst>
      <p:ext uri="{BB962C8B-B14F-4D97-AF65-F5344CB8AC3E}">
        <p14:creationId xmlns:p14="http://schemas.microsoft.com/office/powerpoint/2010/main" val="30912218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16AE520-6092-4CFA-BF2C-882FA1C4D583}" type="datetimeFigureOut">
              <a:rPr lang="en-US" smtClean="0"/>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A1C1E0-2E63-4742-A214-A73A8C73E7E5}" type="slidenum">
              <a:rPr lang="en-US" smtClean="0"/>
              <a:t>‹#›</a:t>
            </a:fld>
            <a:endParaRPr lang="en-US"/>
          </a:p>
        </p:txBody>
      </p:sp>
    </p:spTree>
    <p:extLst>
      <p:ext uri="{BB962C8B-B14F-4D97-AF65-F5344CB8AC3E}">
        <p14:creationId xmlns:p14="http://schemas.microsoft.com/office/powerpoint/2010/main" val="24205052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AE520-6092-4CFA-BF2C-882FA1C4D583}"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A1C1E0-2E63-4742-A214-A73A8C73E7E5}" type="slidenum">
              <a:rPr lang="en-US" smtClean="0"/>
              <a:t>‹#›</a:t>
            </a:fld>
            <a:endParaRPr lang="en-US"/>
          </a:p>
        </p:txBody>
      </p:sp>
    </p:spTree>
    <p:extLst>
      <p:ext uri="{BB962C8B-B14F-4D97-AF65-F5344CB8AC3E}">
        <p14:creationId xmlns:p14="http://schemas.microsoft.com/office/powerpoint/2010/main" val="1784311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AE520-6092-4CFA-BF2C-882FA1C4D583}"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A1C1E0-2E63-4742-A214-A73A8C73E7E5}" type="slidenum">
              <a:rPr lang="en-US" smtClean="0"/>
              <a:t>‹#›</a:t>
            </a:fld>
            <a:endParaRPr lang="en-US"/>
          </a:p>
        </p:txBody>
      </p:sp>
    </p:spTree>
    <p:extLst>
      <p:ext uri="{BB962C8B-B14F-4D97-AF65-F5344CB8AC3E}">
        <p14:creationId xmlns:p14="http://schemas.microsoft.com/office/powerpoint/2010/main" val="876328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816AE520-6092-4CFA-BF2C-882FA1C4D583}" type="datetimeFigureOut">
              <a:rPr lang="en-US" smtClean="0"/>
              <a:t>9/22/2026</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5DA1C1E0-2E63-4742-A214-A73A8C73E7E5}" type="slidenum">
              <a:rPr lang="en-US" smtClean="0"/>
              <a:t>‹#›</a:t>
            </a:fld>
            <a:endParaRPr lang="en-US"/>
          </a:p>
        </p:txBody>
      </p:sp>
    </p:spTree>
    <p:extLst>
      <p:ext uri="{BB962C8B-B14F-4D97-AF65-F5344CB8AC3E}">
        <p14:creationId xmlns:p14="http://schemas.microsoft.com/office/powerpoint/2010/main" val="3677556985"/>
      </p:ext>
    </p:extLst>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8D747-54D3-4ACF-CDC8-E34B341E70BA}"/>
              </a:ext>
            </a:extLst>
          </p:cNvPr>
          <p:cNvSpPr>
            <a:spLocks noGrp="1"/>
          </p:cNvSpPr>
          <p:nvPr>
            <p:ph type="ctrTitle"/>
          </p:nvPr>
        </p:nvSpPr>
        <p:spPr>
          <a:xfrm>
            <a:off x="1370693" y="1769540"/>
            <a:ext cx="9440034" cy="1049867"/>
          </a:xfrm>
        </p:spPr>
        <p:txBody>
          <a:bodyPr/>
          <a:lstStyle/>
          <a:p>
            <a:r>
              <a:rPr lang="en-US" dirty="0"/>
              <a:t>Stroke Risk Prediction Analysis</a:t>
            </a:r>
          </a:p>
        </p:txBody>
      </p:sp>
      <p:sp>
        <p:nvSpPr>
          <p:cNvPr id="3" name="Subtitle 2">
            <a:extLst>
              <a:ext uri="{FF2B5EF4-FFF2-40B4-BE49-F238E27FC236}">
                <a16:creationId xmlns:a16="http://schemas.microsoft.com/office/drawing/2014/main" id="{65A66329-D22B-5775-AF2F-6D00295EF5BD}"/>
              </a:ext>
            </a:extLst>
          </p:cNvPr>
          <p:cNvSpPr>
            <a:spLocks noGrp="1"/>
          </p:cNvSpPr>
          <p:nvPr>
            <p:ph type="subTitle" idx="1"/>
          </p:nvPr>
        </p:nvSpPr>
        <p:spPr/>
        <p:txBody>
          <a:bodyPr/>
          <a:lstStyle/>
          <a:p>
            <a:r>
              <a:rPr lang="en-US" dirty="0"/>
              <a:t>Peter Lee</a:t>
            </a:r>
          </a:p>
          <a:p>
            <a:r>
              <a:rPr lang="en-US" dirty="0"/>
              <a:t>Springboard Data Science Student</a:t>
            </a:r>
          </a:p>
        </p:txBody>
      </p:sp>
    </p:spTree>
    <p:extLst>
      <p:ext uri="{BB962C8B-B14F-4D97-AF65-F5344CB8AC3E}">
        <p14:creationId xmlns:p14="http://schemas.microsoft.com/office/powerpoint/2010/main" val="4141226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3978F-F8C4-3404-C8C9-CC3D8A3D0364}"/>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AD36DDD6-EF48-0435-6420-E75C80074842}"/>
              </a:ext>
            </a:extLst>
          </p:cNvPr>
          <p:cNvSpPr>
            <a:spLocks noGrp="1"/>
          </p:cNvSpPr>
          <p:nvPr>
            <p:ph idx="1"/>
          </p:nvPr>
        </p:nvSpPr>
        <p:spPr/>
        <p:txBody>
          <a:bodyPr/>
          <a:lstStyle/>
          <a:p>
            <a:pPr marL="36900" indent="0">
              <a:buNone/>
            </a:pPr>
            <a:endParaRPr lang="en-US" b="1" dirty="0"/>
          </a:p>
          <a:p>
            <a:r>
              <a:rPr lang="en-US" dirty="0"/>
              <a:t>Stroke is a major cause of death and disability worldwide. </a:t>
            </a:r>
          </a:p>
          <a:p>
            <a:r>
              <a:rPr lang="en-US" dirty="0"/>
              <a:t>Goal: develop a machine-learning model to identify individuals who may be at elevated risk of stroke. </a:t>
            </a:r>
          </a:p>
          <a:p>
            <a:r>
              <a:rPr lang="en-US" dirty="0"/>
              <a:t>Use demographic, medical, and lifestyle factors such as age, hypertension, heart disease, glucose level, BMI, and smoking status.</a:t>
            </a:r>
          </a:p>
          <a:p>
            <a:pPr marL="36900" indent="0">
              <a:buNone/>
            </a:pPr>
            <a:endParaRPr lang="en-US" dirty="0"/>
          </a:p>
        </p:txBody>
      </p:sp>
    </p:spTree>
    <p:extLst>
      <p:ext uri="{BB962C8B-B14F-4D97-AF65-F5344CB8AC3E}">
        <p14:creationId xmlns:p14="http://schemas.microsoft.com/office/powerpoint/2010/main" val="1750668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5683D-DA59-D775-B4E3-A06E45CF16B3}"/>
              </a:ext>
            </a:extLst>
          </p:cNvPr>
          <p:cNvSpPr>
            <a:spLocks noGrp="1"/>
          </p:cNvSpPr>
          <p:nvPr>
            <p:ph type="title"/>
          </p:nvPr>
        </p:nvSpPr>
        <p:spPr>
          <a:xfrm>
            <a:off x="913795" y="609600"/>
            <a:ext cx="10353762" cy="741093"/>
          </a:xfrm>
        </p:spPr>
        <p:txBody>
          <a:bodyPr/>
          <a:lstStyle/>
          <a:p>
            <a:r>
              <a:rPr lang="en-US" dirty="0"/>
              <a:t>Dataset</a:t>
            </a:r>
          </a:p>
        </p:txBody>
      </p:sp>
      <p:sp>
        <p:nvSpPr>
          <p:cNvPr id="3" name="Content Placeholder 2">
            <a:extLst>
              <a:ext uri="{FF2B5EF4-FFF2-40B4-BE49-F238E27FC236}">
                <a16:creationId xmlns:a16="http://schemas.microsoft.com/office/drawing/2014/main" id="{F3B16E35-CE04-C1B7-ABF0-C64803F22613}"/>
              </a:ext>
            </a:extLst>
          </p:cNvPr>
          <p:cNvSpPr>
            <a:spLocks noGrp="1"/>
          </p:cNvSpPr>
          <p:nvPr>
            <p:ph idx="1"/>
          </p:nvPr>
        </p:nvSpPr>
        <p:spPr>
          <a:xfrm>
            <a:off x="633168" y="2248278"/>
            <a:ext cx="5457508" cy="3165987"/>
          </a:xfrm>
        </p:spPr>
        <p:txBody>
          <a:bodyPr/>
          <a:lstStyle/>
          <a:p>
            <a:r>
              <a:rPr lang="en-US" dirty="0"/>
              <a:t>Kaggle Stroke Prediction Dataset</a:t>
            </a:r>
          </a:p>
          <a:p>
            <a:r>
              <a:rPr lang="en-US" dirty="0"/>
              <a:t>5,110 patient records</a:t>
            </a:r>
          </a:p>
          <a:p>
            <a:r>
              <a:rPr lang="en-US" dirty="0"/>
              <a:t>249 stroke cases (4.9%)</a:t>
            </a:r>
          </a:p>
          <a:p>
            <a:r>
              <a:rPr lang="en-US" dirty="0"/>
              <a:t>Demographic, medical, and lifestyle features</a:t>
            </a:r>
          </a:p>
          <a:p>
            <a:r>
              <a:rPr lang="en-US" dirty="0"/>
              <a:t>201 missing BMI values</a:t>
            </a:r>
          </a:p>
          <a:p>
            <a:r>
              <a:rPr lang="en-US" dirty="0"/>
              <a:t>Target: stroke (0 = No Stroke, 1 = Stroke)</a:t>
            </a:r>
          </a:p>
        </p:txBody>
      </p:sp>
      <p:pic>
        <p:nvPicPr>
          <p:cNvPr id="5" name="Picture 4">
            <a:extLst>
              <a:ext uri="{FF2B5EF4-FFF2-40B4-BE49-F238E27FC236}">
                <a16:creationId xmlns:a16="http://schemas.microsoft.com/office/drawing/2014/main" id="{7750A2C6-DD38-6130-0BB3-EE2CA6F039D2}"/>
              </a:ext>
            </a:extLst>
          </p:cNvPr>
          <p:cNvPicPr>
            <a:picLocks noChangeAspect="1"/>
          </p:cNvPicPr>
          <p:nvPr/>
        </p:nvPicPr>
        <p:blipFill>
          <a:blip r:embed="rId3"/>
          <a:stretch>
            <a:fillRect/>
          </a:stretch>
        </p:blipFill>
        <p:spPr>
          <a:xfrm>
            <a:off x="6283423" y="1580048"/>
            <a:ext cx="5545388" cy="4574945"/>
          </a:xfrm>
          <a:prstGeom prst="rect">
            <a:avLst/>
          </a:prstGeom>
        </p:spPr>
      </p:pic>
    </p:spTree>
    <p:extLst>
      <p:ext uri="{BB962C8B-B14F-4D97-AF65-F5344CB8AC3E}">
        <p14:creationId xmlns:p14="http://schemas.microsoft.com/office/powerpoint/2010/main" val="2196533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D3F1B-0976-8D01-F230-5D177A7C839E}"/>
              </a:ext>
            </a:extLst>
          </p:cNvPr>
          <p:cNvSpPr>
            <a:spLocks noGrp="1"/>
          </p:cNvSpPr>
          <p:nvPr>
            <p:ph type="title"/>
          </p:nvPr>
        </p:nvSpPr>
        <p:spPr/>
        <p:txBody>
          <a:bodyPr/>
          <a:lstStyle/>
          <a:p>
            <a:r>
              <a:rPr lang="en-US" dirty="0"/>
              <a:t>Approach</a:t>
            </a:r>
          </a:p>
        </p:txBody>
      </p:sp>
      <p:sp>
        <p:nvSpPr>
          <p:cNvPr id="3" name="Content Placeholder 2">
            <a:extLst>
              <a:ext uri="{FF2B5EF4-FFF2-40B4-BE49-F238E27FC236}">
                <a16:creationId xmlns:a16="http://schemas.microsoft.com/office/drawing/2014/main" id="{E2C0BAA8-C477-426B-81CC-942EB34B86BF}"/>
              </a:ext>
            </a:extLst>
          </p:cNvPr>
          <p:cNvSpPr>
            <a:spLocks noGrp="1"/>
          </p:cNvSpPr>
          <p:nvPr>
            <p:ph idx="1"/>
          </p:nvPr>
        </p:nvSpPr>
        <p:spPr>
          <a:xfrm>
            <a:off x="913795" y="2310581"/>
            <a:ext cx="10353762" cy="3480619"/>
          </a:xfrm>
        </p:spPr>
        <p:txBody>
          <a:bodyPr/>
          <a:lstStyle/>
          <a:p>
            <a:r>
              <a:rPr lang="en-US" dirty="0"/>
              <a:t>Data Wrangling → EDA → Preprocessing → Model Training → Model Comparison → Hyperparameter Tuning → Final Model Evaluation</a:t>
            </a:r>
          </a:p>
          <a:p>
            <a:endParaRPr lang="en-US" dirty="0"/>
          </a:p>
          <a:p>
            <a:r>
              <a:rPr lang="en-US" dirty="0"/>
              <a:t>Dummy Classifier | Logistic Regression | Decision Tree | Random Forest</a:t>
            </a:r>
          </a:p>
        </p:txBody>
      </p:sp>
    </p:spTree>
    <p:extLst>
      <p:ext uri="{BB962C8B-B14F-4D97-AF65-F5344CB8AC3E}">
        <p14:creationId xmlns:p14="http://schemas.microsoft.com/office/powerpoint/2010/main" val="3900943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2B76B-2134-C748-2E16-5399F4A8C4C7}"/>
              </a:ext>
            </a:extLst>
          </p:cNvPr>
          <p:cNvSpPr>
            <a:spLocks noGrp="1"/>
          </p:cNvSpPr>
          <p:nvPr>
            <p:ph type="title"/>
          </p:nvPr>
        </p:nvSpPr>
        <p:spPr>
          <a:xfrm>
            <a:off x="913795" y="406998"/>
            <a:ext cx="10353762" cy="659802"/>
          </a:xfrm>
        </p:spPr>
        <p:txBody>
          <a:bodyPr>
            <a:normAutofit fontScale="90000"/>
          </a:bodyPr>
          <a:lstStyle/>
          <a:p>
            <a:r>
              <a:rPr lang="en-US" dirty="0"/>
              <a:t>EDA: Class Imbalance &amp; Age</a:t>
            </a:r>
          </a:p>
        </p:txBody>
      </p:sp>
      <p:sp>
        <p:nvSpPr>
          <p:cNvPr id="3" name="Content Placeholder 2">
            <a:extLst>
              <a:ext uri="{FF2B5EF4-FFF2-40B4-BE49-F238E27FC236}">
                <a16:creationId xmlns:a16="http://schemas.microsoft.com/office/drawing/2014/main" id="{77597C13-4B68-94A2-32F6-4A590F7474C0}"/>
              </a:ext>
            </a:extLst>
          </p:cNvPr>
          <p:cNvSpPr>
            <a:spLocks noGrp="1"/>
          </p:cNvSpPr>
          <p:nvPr>
            <p:ph idx="1"/>
          </p:nvPr>
        </p:nvSpPr>
        <p:spPr>
          <a:xfrm>
            <a:off x="913795" y="1313564"/>
            <a:ext cx="10353762" cy="1149938"/>
          </a:xfrm>
        </p:spPr>
        <p:txBody>
          <a:bodyPr/>
          <a:lstStyle/>
          <a:p>
            <a:r>
              <a:rPr lang="en-US" b="1" dirty="0"/>
              <a:t>Target distribution:</a:t>
            </a:r>
            <a:r>
              <a:rPr lang="en-US" dirty="0"/>
              <a:t> 249 stroke cases (4.9%) vs. 4,861 non-stroke cases (95.1%)</a:t>
            </a:r>
          </a:p>
          <a:p>
            <a:r>
              <a:rPr lang="en-US" dirty="0"/>
              <a:t>Age by Stroke Status</a:t>
            </a:r>
          </a:p>
        </p:txBody>
      </p:sp>
      <p:pic>
        <p:nvPicPr>
          <p:cNvPr id="5" name="Picture 4">
            <a:extLst>
              <a:ext uri="{FF2B5EF4-FFF2-40B4-BE49-F238E27FC236}">
                <a16:creationId xmlns:a16="http://schemas.microsoft.com/office/drawing/2014/main" id="{2FA8786D-CA38-ADA5-6803-AEA605B1B202}"/>
              </a:ext>
            </a:extLst>
          </p:cNvPr>
          <p:cNvPicPr>
            <a:picLocks noChangeAspect="1"/>
          </p:cNvPicPr>
          <p:nvPr/>
        </p:nvPicPr>
        <p:blipFill>
          <a:blip r:embed="rId3"/>
          <a:stretch>
            <a:fillRect/>
          </a:stretch>
        </p:blipFill>
        <p:spPr>
          <a:xfrm>
            <a:off x="4101613" y="1879270"/>
            <a:ext cx="5229783" cy="4571732"/>
          </a:xfrm>
          <a:prstGeom prst="rect">
            <a:avLst/>
          </a:prstGeom>
        </p:spPr>
      </p:pic>
    </p:spTree>
    <p:extLst>
      <p:ext uri="{BB962C8B-B14F-4D97-AF65-F5344CB8AC3E}">
        <p14:creationId xmlns:p14="http://schemas.microsoft.com/office/powerpoint/2010/main" val="977166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3D5CF-2296-DA3D-12F2-2DE9A6C736F9}"/>
              </a:ext>
            </a:extLst>
          </p:cNvPr>
          <p:cNvSpPr>
            <a:spLocks noGrp="1"/>
          </p:cNvSpPr>
          <p:nvPr>
            <p:ph type="title"/>
          </p:nvPr>
        </p:nvSpPr>
        <p:spPr/>
        <p:txBody>
          <a:bodyPr/>
          <a:lstStyle/>
          <a:p>
            <a:r>
              <a:rPr lang="en-US" dirty="0"/>
              <a:t>EDA: Other Risk Factors</a:t>
            </a:r>
          </a:p>
        </p:txBody>
      </p:sp>
      <p:pic>
        <p:nvPicPr>
          <p:cNvPr id="7" name="Picture 6">
            <a:extLst>
              <a:ext uri="{FF2B5EF4-FFF2-40B4-BE49-F238E27FC236}">
                <a16:creationId xmlns:a16="http://schemas.microsoft.com/office/drawing/2014/main" id="{FF971606-13F2-0104-23BA-891E5E14F3D0}"/>
              </a:ext>
            </a:extLst>
          </p:cNvPr>
          <p:cNvPicPr>
            <a:picLocks noChangeAspect="1"/>
          </p:cNvPicPr>
          <p:nvPr/>
        </p:nvPicPr>
        <p:blipFill>
          <a:blip r:embed="rId3"/>
          <a:stretch>
            <a:fillRect/>
          </a:stretch>
        </p:blipFill>
        <p:spPr>
          <a:xfrm>
            <a:off x="272450" y="1774868"/>
            <a:ext cx="5737490" cy="4276699"/>
          </a:xfrm>
          <a:prstGeom prst="rect">
            <a:avLst/>
          </a:prstGeom>
        </p:spPr>
      </p:pic>
      <p:pic>
        <p:nvPicPr>
          <p:cNvPr id="9" name="Picture 8">
            <a:extLst>
              <a:ext uri="{FF2B5EF4-FFF2-40B4-BE49-F238E27FC236}">
                <a16:creationId xmlns:a16="http://schemas.microsoft.com/office/drawing/2014/main" id="{9BD35E36-A490-BF1C-4720-422B0EB933BE}"/>
              </a:ext>
            </a:extLst>
          </p:cNvPr>
          <p:cNvPicPr>
            <a:picLocks noChangeAspect="1"/>
          </p:cNvPicPr>
          <p:nvPr/>
        </p:nvPicPr>
        <p:blipFill>
          <a:blip r:embed="rId4"/>
          <a:stretch>
            <a:fillRect/>
          </a:stretch>
        </p:blipFill>
        <p:spPr>
          <a:xfrm>
            <a:off x="6285168" y="1774867"/>
            <a:ext cx="5634382" cy="4276700"/>
          </a:xfrm>
          <a:prstGeom prst="rect">
            <a:avLst/>
          </a:prstGeom>
        </p:spPr>
      </p:pic>
    </p:spTree>
    <p:extLst>
      <p:ext uri="{BB962C8B-B14F-4D97-AF65-F5344CB8AC3E}">
        <p14:creationId xmlns:p14="http://schemas.microsoft.com/office/powerpoint/2010/main" val="2108530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2140C-ABA5-2E57-8A82-4BFD407577F4}"/>
              </a:ext>
            </a:extLst>
          </p:cNvPr>
          <p:cNvSpPr>
            <a:spLocks noGrp="1"/>
          </p:cNvSpPr>
          <p:nvPr>
            <p:ph type="title"/>
          </p:nvPr>
        </p:nvSpPr>
        <p:spPr>
          <a:xfrm>
            <a:off x="913795" y="236667"/>
            <a:ext cx="10353762" cy="679525"/>
          </a:xfrm>
        </p:spPr>
        <p:txBody>
          <a:bodyPr>
            <a:normAutofit fontScale="90000"/>
          </a:bodyPr>
          <a:lstStyle/>
          <a:p>
            <a:r>
              <a:rPr lang="en-US" dirty="0"/>
              <a:t>Data Preprocessing</a:t>
            </a:r>
          </a:p>
        </p:txBody>
      </p:sp>
      <p:sp>
        <p:nvSpPr>
          <p:cNvPr id="3" name="Content Placeholder 2">
            <a:extLst>
              <a:ext uri="{FF2B5EF4-FFF2-40B4-BE49-F238E27FC236}">
                <a16:creationId xmlns:a16="http://schemas.microsoft.com/office/drawing/2014/main" id="{49319C32-9D25-0D7A-C5F2-DCAE32F03B56}"/>
              </a:ext>
            </a:extLst>
          </p:cNvPr>
          <p:cNvSpPr>
            <a:spLocks noGrp="1"/>
          </p:cNvSpPr>
          <p:nvPr>
            <p:ph idx="1"/>
          </p:nvPr>
        </p:nvSpPr>
        <p:spPr>
          <a:xfrm>
            <a:off x="1656678" y="1366221"/>
            <a:ext cx="9610879" cy="5400339"/>
          </a:xfrm>
        </p:spPr>
        <p:txBody>
          <a:bodyPr>
            <a:normAutofit fontScale="92500" lnSpcReduction="10000"/>
          </a:bodyPr>
          <a:lstStyle/>
          <a:p>
            <a:r>
              <a:rPr lang="en-US" b="1" dirty="0"/>
              <a:t>Train/Test Split</a:t>
            </a:r>
            <a:endParaRPr lang="en-US" dirty="0"/>
          </a:p>
          <a:p>
            <a:pPr lvl="1"/>
            <a:r>
              <a:rPr lang="en-US" dirty="0"/>
              <a:t>80% training / 20% testing </a:t>
            </a:r>
          </a:p>
          <a:p>
            <a:pPr lvl="1"/>
            <a:r>
              <a:rPr lang="en-US" dirty="0"/>
              <a:t>Stratified by stroke status </a:t>
            </a:r>
          </a:p>
          <a:p>
            <a:r>
              <a:rPr lang="en-US" b="1" dirty="0"/>
              <a:t>Numerical Features</a:t>
            </a:r>
            <a:endParaRPr lang="en-US" dirty="0"/>
          </a:p>
          <a:p>
            <a:pPr lvl="1"/>
            <a:r>
              <a:rPr lang="en-US" dirty="0"/>
              <a:t>Median imputation for missing values </a:t>
            </a:r>
          </a:p>
          <a:p>
            <a:pPr lvl="1"/>
            <a:r>
              <a:rPr lang="en-US" dirty="0" err="1"/>
              <a:t>StandardScaler</a:t>
            </a:r>
            <a:r>
              <a:rPr lang="en-US" dirty="0"/>
              <a:t> </a:t>
            </a:r>
          </a:p>
          <a:p>
            <a:r>
              <a:rPr lang="en-US" b="1" dirty="0"/>
              <a:t>Categorical Features</a:t>
            </a:r>
            <a:endParaRPr lang="en-US" dirty="0"/>
          </a:p>
          <a:p>
            <a:pPr lvl="1"/>
            <a:r>
              <a:rPr lang="en-US" dirty="0"/>
              <a:t>Most-frequent imputation </a:t>
            </a:r>
          </a:p>
          <a:p>
            <a:pPr lvl="1"/>
            <a:r>
              <a:rPr lang="en-US" dirty="0"/>
              <a:t>One-hot encoding </a:t>
            </a:r>
          </a:p>
          <a:p>
            <a:r>
              <a:rPr lang="en-US" b="1" dirty="0"/>
              <a:t>Binary Features</a:t>
            </a:r>
            <a:endParaRPr lang="en-US" dirty="0"/>
          </a:p>
          <a:p>
            <a:pPr lvl="1"/>
            <a:r>
              <a:rPr lang="en-US" dirty="0"/>
              <a:t>Hypertension and heart disease passed through </a:t>
            </a:r>
          </a:p>
          <a:p>
            <a:r>
              <a:rPr lang="en-US" b="1" dirty="0"/>
              <a:t>Pipeline</a:t>
            </a:r>
            <a:endParaRPr lang="en-US" dirty="0"/>
          </a:p>
          <a:p>
            <a:pPr lvl="1"/>
            <a:r>
              <a:rPr lang="en-US" dirty="0"/>
              <a:t>Preprocessing fitted on training data </a:t>
            </a:r>
          </a:p>
          <a:p>
            <a:pPr lvl="1"/>
            <a:r>
              <a:rPr lang="en-US" dirty="0"/>
              <a:t>Same transformations applied consistently to validation/test data</a:t>
            </a:r>
          </a:p>
          <a:p>
            <a:endParaRPr lang="en-US" dirty="0"/>
          </a:p>
        </p:txBody>
      </p:sp>
    </p:spTree>
    <p:extLst>
      <p:ext uri="{BB962C8B-B14F-4D97-AF65-F5344CB8AC3E}">
        <p14:creationId xmlns:p14="http://schemas.microsoft.com/office/powerpoint/2010/main" val="2168921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E55B3-2F95-4FEE-46AC-8B8BBDB2167C}"/>
              </a:ext>
            </a:extLst>
          </p:cNvPr>
          <p:cNvSpPr>
            <a:spLocks noGrp="1"/>
          </p:cNvSpPr>
          <p:nvPr>
            <p:ph type="title"/>
          </p:nvPr>
        </p:nvSpPr>
        <p:spPr/>
        <p:txBody>
          <a:bodyPr/>
          <a:lstStyle/>
          <a:p>
            <a:r>
              <a:rPr lang="en-US" dirty="0"/>
              <a:t>Initial Model Comparison</a:t>
            </a:r>
          </a:p>
        </p:txBody>
      </p:sp>
      <p:pic>
        <p:nvPicPr>
          <p:cNvPr id="5" name="Picture 4">
            <a:extLst>
              <a:ext uri="{FF2B5EF4-FFF2-40B4-BE49-F238E27FC236}">
                <a16:creationId xmlns:a16="http://schemas.microsoft.com/office/drawing/2014/main" id="{29CC66F9-9459-8E0A-B45E-351D475CB6D9}"/>
              </a:ext>
            </a:extLst>
          </p:cNvPr>
          <p:cNvPicPr>
            <a:picLocks noChangeAspect="1"/>
          </p:cNvPicPr>
          <p:nvPr/>
        </p:nvPicPr>
        <p:blipFill>
          <a:blip r:embed="rId3"/>
          <a:stretch>
            <a:fillRect/>
          </a:stretch>
        </p:blipFill>
        <p:spPr>
          <a:xfrm>
            <a:off x="913795" y="1916568"/>
            <a:ext cx="10353762" cy="3884036"/>
          </a:xfrm>
          <a:prstGeom prst="rect">
            <a:avLst/>
          </a:prstGeom>
        </p:spPr>
      </p:pic>
    </p:spTree>
    <p:extLst>
      <p:ext uri="{BB962C8B-B14F-4D97-AF65-F5344CB8AC3E}">
        <p14:creationId xmlns:p14="http://schemas.microsoft.com/office/powerpoint/2010/main" val="2910218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5819E-E7F9-5D87-364A-445841C97663}"/>
              </a:ext>
            </a:extLst>
          </p:cNvPr>
          <p:cNvSpPr>
            <a:spLocks noGrp="1"/>
          </p:cNvSpPr>
          <p:nvPr>
            <p:ph type="title"/>
          </p:nvPr>
        </p:nvSpPr>
        <p:spPr/>
        <p:txBody>
          <a:bodyPr/>
          <a:lstStyle/>
          <a:p>
            <a:r>
              <a:rPr lang="en-US" dirty="0"/>
              <a:t>Model Tuning &amp; Selection</a:t>
            </a:r>
          </a:p>
        </p:txBody>
      </p:sp>
      <p:graphicFrame>
        <p:nvGraphicFramePr>
          <p:cNvPr id="4" name="Content Placeholder 3">
            <a:extLst>
              <a:ext uri="{FF2B5EF4-FFF2-40B4-BE49-F238E27FC236}">
                <a16:creationId xmlns:a16="http://schemas.microsoft.com/office/drawing/2014/main" id="{963EB6B5-8EEE-68E7-3AD2-7714B92297CD}"/>
              </a:ext>
            </a:extLst>
          </p:cNvPr>
          <p:cNvGraphicFramePr>
            <a:graphicFrameLocks noGrp="1"/>
          </p:cNvGraphicFramePr>
          <p:nvPr>
            <p:ph idx="1"/>
            <p:extLst>
              <p:ext uri="{D42A27DB-BD31-4B8C-83A1-F6EECF244321}">
                <p14:modId xmlns:p14="http://schemas.microsoft.com/office/powerpoint/2010/main" val="585838235"/>
              </p:ext>
            </p:extLst>
          </p:nvPr>
        </p:nvGraphicFramePr>
        <p:xfrm>
          <a:off x="913795" y="1865527"/>
          <a:ext cx="10353675" cy="1483360"/>
        </p:xfrm>
        <a:graphic>
          <a:graphicData uri="http://schemas.openxmlformats.org/drawingml/2006/table">
            <a:tbl>
              <a:tblPr firstRow="1" bandRow="1">
                <a:tableStyleId>{073A0DAA-6AF3-43AB-8588-CEC1D06C72B9}</a:tableStyleId>
              </a:tblPr>
              <a:tblGrid>
                <a:gridCol w="3451225">
                  <a:extLst>
                    <a:ext uri="{9D8B030D-6E8A-4147-A177-3AD203B41FA5}">
                      <a16:colId xmlns:a16="http://schemas.microsoft.com/office/drawing/2014/main" val="14980292"/>
                    </a:ext>
                  </a:extLst>
                </a:gridCol>
                <a:gridCol w="3451225">
                  <a:extLst>
                    <a:ext uri="{9D8B030D-6E8A-4147-A177-3AD203B41FA5}">
                      <a16:colId xmlns:a16="http://schemas.microsoft.com/office/drawing/2014/main" val="4257610649"/>
                    </a:ext>
                  </a:extLst>
                </a:gridCol>
                <a:gridCol w="3451225">
                  <a:extLst>
                    <a:ext uri="{9D8B030D-6E8A-4147-A177-3AD203B41FA5}">
                      <a16:colId xmlns:a16="http://schemas.microsoft.com/office/drawing/2014/main" val="3261449891"/>
                    </a:ext>
                  </a:extLst>
                </a:gridCol>
              </a:tblGrid>
              <a:tr h="370840">
                <a:tc>
                  <a:txBody>
                    <a:bodyPr/>
                    <a:lstStyle/>
                    <a:p>
                      <a:r>
                        <a:rPr lang="en-US" dirty="0"/>
                        <a:t>Model</a:t>
                      </a:r>
                    </a:p>
                  </a:txBody>
                  <a:tcPr/>
                </a:tc>
                <a:tc>
                  <a:txBody>
                    <a:bodyPr/>
                    <a:lstStyle/>
                    <a:p>
                      <a:r>
                        <a:rPr lang="en-US" dirty="0"/>
                        <a:t>Recall</a:t>
                      </a:r>
                    </a:p>
                  </a:txBody>
                  <a:tcPr/>
                </a:tc>
                <a:tc>
                  <a:txBody>
                    <a:bodyPr/>
                    <a:lstStyle/>
                    <a:p>
                      <a:r>
                        <a:rPr lang="en-US" dirty="0"/>
                        <a:t>PR-AUC</a:t>
                      </a:r>
                    </a:p>
                  </a:txBody>
                  <a:tcPr/>
                </a:tc>
                <a:extLst>
                  <a:ext uri="{0D108BD9-81ED-4DB2-BD59-A6C34878D82A}">
                    <a16:rowId xmlns:a16="http://schemas.microsoft.com/office/drawing/2014/main" val="1040159370"/>
                  </a:ext>
                </a:extLst>
              </a:tr>
              <a:tr h="370840">
                <a:tc>
                  <a:txBody>
                    <a:bodyPr/>
                    <a:lstStyle/>
                    <a:p>
                      <a:pPr>
                        <a:buNone/>
                      </a:pPr>
                      <a:r>
                        <a:rPr lang="en-US" b="1" dirty="0"/>
                        <a:t>Logistic Regression</a:t>
                      </a:r>
                      <a:endParaRPr lang="en-US" dirty="0"/>
                    </a:p>
                  </a:txBody>
                  <a:tcPr anchor="ctr"/>
                </a:tc>
                <a:tc>
                  <a:txBody>
                    <a:bodyPr/>
                    <a:lstStyle/>
                    <a:p>
                      <a:pPr>
                        <a:buNone/>
                      </a:pPr>
                      <a:r>
                        <a:rPr lang="en-US" b="1"/>
                        <a:t>0.789</a:t>
                      </a:r>
                      <a:endParaRPr lang="en-US"/>
                    </a:p>
                  </a:txBody>
                  <a:tcPr anchor="ctr"/>
                </a:tc>
                <a:tc>
                  <a:txBody>
                    <a:bodyPr/>
                    <a:lstStyle/>
                    <a:p>
                      <a:pPr>
                        <a:buNone/>
                      </a:pPr>
                      <a:r>
                        <a:rPr lang="en-US" b="1" dirty="0"/>
                        <a:t>0.193</a:t>
                      </a:r>
                      <a:endParaRPr lang="en-US" dirty="0"/>
                    </a:p>
                  </a:txBody>
                  <a:tcPr anchor="ctr"/>
                </a:tc>
                <a:extLst>
                  <a:ext uri="{0D108BD9-81ED-4DB2-BD59-A6C34878D82A}">
                    <a16:rowId xmlns:a16="http://schemas.microsoft.com/office/drawing/2014/main" val="834308413"/>
                  </a:ext>
                </a:extLst>
              </a:tr>
              <a:tr h="370840">
                <a:tc>
                  <a:txBody>
                    <a:bodyPr/>
                    <a:lstStyle/>
                    <a:p>
                      <a:pPr>
                        <a:buNone/>
                      </a:pPr>
                      <a:r>
                        <a:rPr lang="en-US"/>
                        <a:t>Tuned Decision Tree</a:t>
                      </a:r>
                    </a:p>
                  </a:txBody>
                  <a:tcPr anchor="ctr"/>
                </a:tc>
                <a:tc>
                  <a:txBody>
                    <a:bodyPr/>
                    <a:lstStyle/>
                    <a:p>
                      <a:pPr>
                        <a:buNone/>
                      </a:pPr>
                      <a:r>
                        <a:rPr lang="en-US"/>
                        <a:t>0.628</a:t>
                      </a:r>
                    </a:p>
                  </a:txBody>
                  <a:tcPr anchor="ctr"/>
                </a:tc>
                <a:tc>
                  <a:txBody>
                    <a:bodyPr/>
                    <a:lstStyle/>
                    <a:p>
                      <a:pPr>
                        <a:buNone/>
                      </a:pPr>
                      <a:r>
                        <a:rPr lang="en-US" dirty="0"/>
                        <a:t>0.149</a:t>
                      </a:r>
                    </a:p>
                  </a:txBody>
                  <a:tcPr anchor="ctr"/>
                </a:tc>
                <a:extLst>
                  <a:ext uri="{0D108BD9-81ED-4DB2-BD59-A6C34878D82A}">
                    <a16:rowId xmlns:a16="http://schemas.microsoft.com/office/drawing/2014/main" val="2334307952"/>
                  </a:ext>
                </a:extLst>
              </a:tr>
              <a:tr h="370840">
                <a:tc>
                  <a:txBody>
                    <a:bodyPr/>
                    <a:lstStyle/>
                    <a:p>
                      <a:pPr>
                        <a:buNone/>
                      </a:pPr>
                      <a:r>
                        <a:rPr lang="en-US"/>
                        <a:t>Tuned Random Forest</a:t>
                      </a:r>
                    </a:p>
                  </a:txBody>
                  <a:tcPr anchor="ctr"/>
                </a:tc>
                <a:tc>
                  <a:txBody>
                    <a:bodyPr/>
                    <a:lstStyle/>
                    <a:p>
                      <a:pPr>
                        <a:buNone/>
                      </a:pPr>
                      <a:r>
                        <a:rPr lang="en-US" dirty="0"/>
                        <a:t>0.769</a:t>
                      </a:r>
                    </a:p>
                  </a:txBody>
                  <a:tcPr anchor="ctr"/>
                </a:tc>
                <a:tc>
                  <a:txBody>
                    <a:bodyPr/>
                    <a:lstStyle/>
                    <a:p>
                      <a:pPr>
                        <a:buNone/>
                      </a:pPr>
                      <a:r>
                        <a:rPr lang="en-US" dirty="0"/>
                        <a:t>0.180</a:t>
                      </a:r>
                    </a:p>
                  </a:txBody>
                  <a:tcPr anchor="ctr"/>
                </a:tc>
                <a:extLst>
                  <a:ext uri="{0D108BD9-81ED-4DB2-BD59-A6C34878D82A}">
                    <a16:rowId xmlns:a16="http://schemas.microsoft.com/office/drawing/2014/main" val="2992763941"/>
                  </a:ext>
                </a:extLst>
              </a:tr>
            </a:tbl>
          </a:graphicData>
        </a:graphic>
      </p:graphicFrame>
      <p:sp>
        <p:nvSpPr>
          <p:cNvPr id="5" name="Content Placeholder 2">
            <a:extLst>
              <a:ext uri="{FF2B5EF4-FFF2-40B4-BE49-F238E27FC236}">
                <a16:creationId xmlns:a16="http://schemas.microsoft.com/office/drawing/2014/main" id="{5A561092-EE90-8E34-9500-FDCA8A13AACF}"/>
              </a:ext>
            </a:extLst>
          </p:cNvPr>
          <p:cNvSpPr txBox="1">
            <a:spLocks/>
          </p:cNvSpPr>
          <p:nvPr/>
        </p:nvSpPr>
        <p:spPr>
          <a:xfrm>
            <a:off x="1229105" y="3930640"/>
            <a:ext cx="10353762" cy="1149938"/>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b="1" dirty="0"/>
              <a:t>Final Model Selected: Logistic Regression</a:t>
            </a:r>
            <a:endParaRPr lang="en-US" dirty="0"/>
          </a:p>
          <a:p>
            <a:r>
              <a:rPr lang="en-US" b="1" dirty="0"/>
              <a:t>Why?</a:t>
            </a:r>
            <a:r>
              <a:rPr lang="en-US" dirty="0"/>
              <a:t> Highest PR-AUC + highest recall among the tuned candidates.</a:t>
            </a:r>
          </a:p>
          <a:p>
            <a:pPr marL="36900" indent="0">
              <a:buNone/>
            </a:pPr>
            <a:endParaRPr lang="en-US" dirty="0"/>
          </a:p>
        </p:txBody>
      </p:sp>
    </p:spTree>
    <p:extLst>
      <p:ext uri="{BB962C8B-B14F-4D97-AF65-F5344CB8AC3E}">
        <p14:creationId xmlns:p14="http://schemas.microsoft.com/office/powerpoint/2010/main" val="1270247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A4418-E681-EFF0-1CA4-CC9E96CB719B}"/>
              </a:ext>
            </a:extLst>
          </p:cNvPr>
          <p:cNvSpPr>
            <a:spLocks noGrp="1"/>
          </p:cNvSpPr>
          <p:nvPr>
            <p:ph type="title"/>
          </p:nvPr>
        </p:nvSpPr>
        <p:spPr/>
        <p:txBody>
          <a:bodyPr/>
          <a:lstStyle/>
          <a:p>
            <a:r>
              <a:rPr lang="en-US" dirty="0"/>
              <a:t>Final Model Performance</a:t>
            </a:r>
          </a:p>
        </p:txBody>
      </p:sp>
      <p:sp>
        <p:nvSpPr>
          <p:cNvPr id="3" name="Content Placeholder 2">
            <a:extLst>
              <a:ext uri="{FF2B5EF4-FFF2-40B4-BE49-F238E27FC236}">
                <a16:creationId xmlns:a16="http://schemas.microsoft.com/office/drawing/2014/main" id="{9CD7A6CE-8043-DB7F-64EB-BB484FCC5715}"/>
              </a:ext>
            </a:extLst>
          </p:cNvPr>
          <p:cNvSpPr>
            <a:spLocks noGrp="1"/>
          </p:cNvSpPr>
          <p:nvPr>
            <p:ph idx="1"/>
          </p:nvPr>
        </p:nvSpPr>
        <p:spPr>
          <a:xfrm>
            <a:off x="125523" y="1732450"/>
            <a:ext cx="10353762" cy="747992"/>
          </a:xfrm>
        </p:spPr>
        <p:txBody>
          <a:bodyPr/>
          <a:lstStyle/>
          <a:p>
            <a:r>
              <a:rPr lang="en-US" dirty="0"/>
              <a:t>Final Model: Logistic Regression – Test Set Results</a:t>
            </a:r>
          </a:p>
        </p:txBody>
      </p:sp>
      <p:graphicFrame>
        <p:nvGraphicFramePr>
          <p:cNvPr id="4" name="Table 3">
            <a:extLst>
              <a:ext uri="{FF2B5EF4-FFF2-40B4-BE49-F238E27FC236}">
                <a16:creationId xmlns:a16="http://schemas.microsoft.com/office/drawing/2014/main" id="{8490F641-D963-43C5-1490-8EC8825D6D10}"/>
              </a:ext>
            </a:extLst>
          </p:cNvPr>
          <p:cNvGraphicFramePr>
            <a:graphicFrameLocks noGrp="1"/>
          </p:cNvGraphicFramePr>
          <p:nvPr>
            <p:extLst>
              <p:ext uri="{D42A27DB-BD31-4B8C-83A1-F6EECF244321}">
                <p14:modId xmlns:p14="http://schemas.microsoft.com/office/powerpoint/2010/main" val="3494737360"/>
              </p:ext>
            </p:extLst>
          </p:nvPr>
        </p:nvGraphicFramePr>
        <p:xfrm>
          <a:off x="465962" y="2233155"/>
          <a:ext cx="5430344" cy="2696197"/>
        </p:xfrm>
        <a:graphic>
          <a:graphicData uri="http://schemas.openxmlformats.org/drawingml/2006/table">
            <a:tbl>
              <a:tblPr firstRow="1" bandRow="1">
                <a:tableStyleId>{073A0DAA-6AF3-43AB-8588-CEC1D06C72B9}</a:tableStyleId>
              </a:tblPr>
              <a:tblGrid>
                <a:gridCol w="2715172">
                  <a:extLst>
                    <a:ext uri="{9D8B030D-6E8A-4147-A177-3AD203B41FA5}">
                      <a16:colId xmlns:a16="http://schemas.microsoft.com/office/drawing/2014/main" val="3484595522"/>
                    </a:ext>
                  </a:extLst>
                </a:gridCol>
                <a:gridCol w="2715172">
                  <a:extLst>
                    <a:ext uri="{9D8B030D-6E8A-4147-A177-3AD203B41FA5}">
                      <a16:colId xmlns:a16="http://schemas.microsoft.com/office/drawing/2014/main" val="3214235620"/>
                    </a:ext>
                  </a:extLst>
                </a:gridCol>
              </a:tblGrid>
              <a:tr h="385171">
                <a:tc>
                  <a:txBody>
                    <a:bodyPr/>
                    <a:lstStyle/>
                    <a:p>
                      <a:r>
                        <a:rPr lang="en-US" dirty="0"/>
                        <a:t>Metric</a:t>
                      </a:r>
                    </a:p>
                  </a:txBody>
                  <a:tcPr/>
                </a:tc>
                <a:tc>
                  <a:txBody>
                    <a:bodyPr/>
                    <a:lstStyle/>
                    <a:p>
                      <a:r>
                        <a:rPr lang="en-US" dirty="0"/>
                        <a:t>Score</a:t>
                      </a:r>
                    </a:p>
                  </a:txBody>
                  <a:tcPr/>
                </a:tc>
                <a:extLst>
                  <a:ext uri="{0D108BD9-81ED-4DB2-BD59-A6C34878D82A}">
                    <a16:rowId xmlns:a16="http://schemas.microsoft.com/office/drawing/2014/main" val="3402531368"/>
                  </a:ext>
                </a:extLst>
              </a:tr>
              <a:tr h="385171">
                <a:tc>
                  <a:txBody>
                    <a:bodyPr/>
                    <a:lstStyle/>
                    <a:p>
                      <a:pPr>
                        <a:buNone/>
                      </a:pPr>
                      <a:r>
                        <a:rPr lang="en-US" dirty="0"/>
                        <a:t>Accuracy</a:t>
                      </a:r>
                    </a:p>
                  </a:txBody>
                  <a:tcPr anchor="ctr"/>
                </a:tc>
                <a:tc>
                  <a:txBody>
                    <a:bodyPr/>
                    <a:lstStyle/>
                    <a:p>
                      <a:pPr>
                        <a:buNone/>
                      </a:pPr>
                      <a:r>
                        <a:rPr lang="en-US"/>
                        <a:t>0.746</a:t>
                      </a:r>
                    </a:p>
                  </a:txBody>
                  <a:tcPr anchor="ctr"/>
                </a:tc>
                <a:extLst>
                  <a:ext uri="{0D108BD9-81ED-4DB2-BD59-A6C34878D82A}">
                    <a16:rowId xmlns:a16="http://schemas.microsoft.com/office/drawing/2014/main" val="2434478932"/>
                  </a:ext>
                </a:extLst>
              </a:tr>
              <a:tr h="385171">
                <a:tc>
                  <a:txBody>
                    <a:bodyPr/>
                    <a:lstStyle/>
                    <a:p>
                      <a:pPr>
                        <a:buNone/>
                      </a:pPr>
                      <a:r>
                        <a:rPr lang="en-US"/>
                        <a:t>Precision</a:t>
                      </a:r>
                    </a:p>
                  </a:txBody>
                  <a:tcPr anchor="ctr"/>
                </a:tc>
                <a:tc>
                  <a:txBody>
                    <a:bodyPr/>
                    <a:lstStyle/>
                    <a:p>
                      <a:pPr>
                        <a:buNone/>
                      </a:pPr>
                      <a:r>
                        <a:rPr lang="en-US"/>
                        <a:t>0.138</a:t>
                      </a:r>
                    </a:p>
                  </a:txBody>
                  <a:tcPr anchor="ctr"/>
                </a:tc>
                <a:extLst>
                  <a:ext uri="{0D108BD9-81ED-4DB2-BD59-A6C34878D82A}">
                    <a16:rowId xmlns:a16="http://schemas.microsoft.com/office/drawing/2014/main" val="1706558968"/>
                  </a:ext>
                </a:extLst>
              </a:tr>
              <a:tr h="385171">
                <a:tc>
                  <a:txBody>
                    <a:bodyPr/>
                    <a:lstStyle/>
                    <a:p>
                      <a:pPr>
                        <a:buNone/>
                      </a:pPr>
                      <a:r>
                        <a:rPr lang="en-US" b="1" dirty="0"/>
                        <a:t>Recall</a:t>
                      </a:r>
                      <a:endParaRPr lang="en-US" dirty="0"/>
                    </a:p>
                  </a:txBody>
                  <a:tcPr anchor="ctr"/>
                </a:tc>
                <a:tc>
                  <a:txBody>
                    <a:bodyPr/>
                    <a:lstStyle/>
                    <a:p>
                      <a:pPr>
                        <a:buNone/>
                      </a:pPr>
                      <a:r>
                        <a:rPr lang="en-US" b="1"/>
                        <a:t>0.800</a:t>
                      </a:r>
                      <a:endParaRPr lang="en-US"/>
                    </a:p>
                  </a:txBody>
                  <a:tcPr anchor="ctr"/>
                </a:tc>
                <a:extLst>
                  <a:ext uri="{0D108BD9-81ED-4DB2-BD59-A6C34878D82A}">
                    <a16:rowId xmlns:a16="http://schemas.microsoft.com/office/drawing/2014/main" val="1910611953"/>
                  </a:ext>
                </a:extLst>
              </a:tr>
              <a:tr h="385171">
                <a:tc>
                  <a:txBody>
                    <a:bodyPr/>
                    <a:lstStyle/>
                    <a:p>
                      <a:pPr>
                        <a:buNone/>
                      </a:pPr>
                      <a:r>
                        <a:rPr lang="en-US"/>
                        <a:t>F1-Score</a:t>
                      </a:r>
                    </a:p>
                  </a:txBody>
                  <a:tcPr anchor="ctr"/>
                </a:tc>
                <a:tc>
                  <a:txBody>
                    <a:bodyPr/>
                    <a:lstStyle/>
                    <a:p>
                      <a:pPr>
                        <a:buNone/>
                      </a:pPr>
                      <a:r>
                        <a:rPr lang="en-US"/>
                        <a:t>0.235</a:t>
                      </a:r>
                    </a:p>
                  </a:txBody>
                  <a:tcPr anchor="ctr"/>
                </a:tc>
                <a:extLst>
                  <a:ext uri="{0D108BD9-81ED-4DB2-BD59-A6C34878D82A}">
                    <a16:rowId xmlns:a16="http://schemas.microsoft.com/office/drawing/2014/main" val="2423126401"/>
                  </a:ext>
                </a:extLst>
              </a:tr>
              <a:tr h="385171">
                <a:tc>
                  <a:txBody>
                    <a:bodyPr/>
                    <a:lstStyle/>
                    <a:p>
                      <a:pPr>
                        <a:buNone/>
                      </a:pPr>
                      <a:r>
                        <a:rPr lang="en-US"/>
                        <a:t>ROC-AUC</a:t>
                      </a:r>
                    </a:p>
                  </a:txBody>
                  <a:tcPr anchor="ctr"/>
                </a:tc>
                <a:tc>
                  <a:txBody>
                    <a:bodyPr/>
                    <a:lstStyle/>
                    <a:p>
                      <a:pPr>
                        <a:buNone/>
                      </a:pPr>
                      <a:r>
                        <a:rPr lang="en-US"/>
                        <a:t>0.844</a:t>
                      </a:r>
                    </a:p>
                  </a:txBody>
                  <a:tcPr anchor="ctr"/>
                </a:tc>
                <a:extLst>
                  <a:ext uri="{0D108BD9-81ED-4DB2-BD59-A6C34878D82A}">
                    <a16:rowId xmlns:a16="http://schemas.microsoft.com/office/drawing/2014/main" val="263151168"/>
                  </a:ext>
                </a:extLst>
              </a:tr>
              <a:tr h="385171">
                <a:tc>
                  <a:txBody>
                    <a:bodyPr/>
                    <a:lstStyle/>
                    <a:p>
                      <a:pPr>
                        <a:buNone/>
                      </a:pPr>
                      <a:r>
                        <a:rPr lang="en-US" dirty="0"/>
                        <a:t>PR-AUC</a:t>
                      </a:r>
                    </a:p>
                  </a:txBody>
                  <a:tcPr anchor="ctr"/>
                </a:tc>
                <a:tc>
                  <a:txBody>
                    <a:bodyPr/>
                    <a:lstStyle/>
                    <a:p>
                      <a:pPr>
                        <a:buNone/>
                      </a:pPr>
                      <a:r>
                        <a:rPr lang="en-US" dirty="0"/>
                        <a:t>0.268</a:t>
                      </a:r>
                    </a:p>
                  </a:txBody>
                  <a:tcPr anchor="ctr"/>
                </a:tc>
                <a:extLst>
                  <a:ext uri="{0D108BD9-81ED-4DB2-BD59-A6C34878D82A}">
                    <a16:rowId xmlns:a16="http://schemas.microsoft.com/office/drawing/2014/main" val="4085281357"/>
                  </a:ext>
                </a:extLst>
              </a:tr>
            </a:tbl>
          </a:graphicData>
        </a:graphic>
      </p:graphicFrame>
      <p:pic>
        <p:nvPicPr>
          <p:cNvPr id="6" name="Picture 5">
            <a:extLst>
              <a:ext uri="{FF2B5EF4-FFF2-40B4-BE49-F238E27FC236}">
                <a16:creationId xmlns:a16="http://schemas.microsoft.com/office/drawing/2014/main" id="{312F0B2C-6E3A-CB3D-6C8D-5E4504B95BEA}"/>
              </a:ext>
            </a:extLst>
          </p:cNvPr>
          <p:cNvPicPr>
            <a:picLocks noChangeAspect="1"/>
          </p:cNvPicPr>
          <p:nvPr/>
        </p:nvPicPr>
        <p:blipFill>
          <a:blip r:embed="rId3"/>
          <a:stretch>
            <a:fillRect/>
          </a:stretch>
        </p:blipFill>
        <p:spPr>
          <a:xfrm>
            <a:off x="6493295" y="1902372"/>
            <a:ext cx="5232743" cy="4169038"/>
          </a:xfrm>
          <a:prstGeom prst="rect">
            <a:avLst/>
          </a:prstGeom>
        </p:spPr>
      </p:pic>
      <p:sp>
        <p:nvSpPr>
          <p:cNvPr id="7" name="Content Placeholder 2">
            <a:extLst>
              <a:ext uri="{FF2B5EF4-FFF2-40B4-BE49-F238E27FC236}">
                <a16:creationId xmlns:a16="http://schemas.microsoft.com/office/drawing/2014/main" id="{A8A4D3D3-A237-49BB-0D97-D80A059A9EC3}"/>
              </a:ext>
            </a:extLst>
          </p:cNvPr>
          <p:cNvSpPr txBox="1">
            <a:spLocks/>
          </p:cNvSpPr>
          <p:nvPr/>
        </p:nvSpPr>
        <p:spPr>
          <a:xfrm>
            <a:off x="6394494" y="6248400"/>
            <a:ext cx="5430344" cy="522034"/>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Identified 40 of 50 stroke cases (80% recall)</a:t>
            </a:r>
          </a:p>
        </p:txBody>
      </p:sp>
    </p:spTree>
    <p:extLst>
      <p:ext uri="{BB962C8B-B14F-4D97-AF65-F5344CB8AC3E}">
        <p14:creationId xmlns:p14="http://schemas.microsoft.com/office/powerpoint/2010/main" val="42406264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A76AC-43B4-7606-6CAC-543886BBB255}"/>
              </a:ext>
            </a:extLst>
          </p:cNvPr>
          <p:cNvSpPr>
            <a:spLocks noGrp="1"/>
          </p:cNvSpPr>
          <p:nvPr>
            <p:ph type="title"/>
          </p:nvPr>
        </p:nvSpPr>
        <p:spPr>
          <a:xfrm>
            <a:off x="1008388" y="247452"/>
            <a:ext cx="10353762" cy="513250"/>
          </a:xfrm>
        </p:spPr>
        <p:txBody>
          <a:bodyPr>
            <a:normAutofit fontScale="90000"/>
          </a:bodyPr>
          <a:lstStyle/>
          <a:p>
            <a:r>
              <a:rPr lang="en-US" dirty="0"/>
              <a:t>Final Model - ROC &amp; Precision-Recall Curves</a:t>
            </a:r>
          </a:p>
        </p:txBody>
      </p:sp>
      <p:sp>
        <p:nvSpPr>
          <p:cNvPr id="3" name="Content Placeholder 2">
            <a:extLst>
              <a:ext uri="{FF2B5EF4-FFF2-40B4-BE49-F238E27FC236}">
                <a16:creationId xmlns:a16="http://schemas.microsoft.com/office/drawing/2014/main" id="{95BE5B82-34A6-4030-9BF6-B12F9F71DF2B}"/>
              </a:ext>
            </a:extLst>
          </p:cNvPr>
          <p:cNvSpPr>
            <a:spLocks noGrp="1"/>
          </p:cNvSpPr>
          <p:nvPr>
            <p:ph idx="1"/>
          </p:nvPr>
        </p:nvSpPr>
        <p:spPr>
          <a:xfrm>
            <a:off x="7965804" y="5627208"/>
            <a:ext cx="3469019" cy="641131"/>
          </a:xfrm>
        </p:spPr>
        <p:txBody>
          <a:bodyPr/>
          <a:lstStyle/>
          <a:p>
            <a:r>
              <a:rPr lang="en-US" dirty="0"/>
              <a:t>PR-AUC = 0.268</a:t>
            </a:r>
          </a:p>
          <a:p>
            <a:pPr marL="36900" indent="0">
              <a:buNone/>
            </a:pPr>
            <a:endParaRPr lang="en-US" dirty="0"/>
          </a:p>
        </p:txBody>
      </p:sp>
      <p:pic>
        <p:nvPicPr>
          <p:cNvPr id="5" name="Picture 4">
            <a:extLst>
              <a:ext uri="{FF2B5EF4-FFF2-40B4-BE49-F238E27FC236}">
                <a16:creationId xmlns:a16="http://schemas.microsoft.com/office/drawing/2014/main" id="{FB669056-A03E-BA18-CFAC-30701A316F09}"/>
              </a:ext>
            </a:extLst>
          </p:cNvPr>
          <p:cNvPicPr>
            <a:picLocks noChangeAspect="1"/>
          </p:cNvPicPr>
          <p:nvPr/>
        </p:nvPicPr>
        <p:blipFill>
          <a:blip r:embed="rId3"/>
          <a:stretch>
            <a:fillRect/>
          </a:stretch>
        </p:blipFill>
        <p:spPr>
          <a:xfrm>
            <a:off x="198502" y="1227511"/>
            <a:ext cx="5823384" cy="4355304"/>
          </a:xfrm>
          <a:prstGeom prst="rect">
            <a:avLst/>
          </a:prstGeom>
        </p:spPr>
      </p:pic>
      <p:pic>
        <p:nvPicPr>
          <p:cNvPr id="7" name="Picture 6">
            <a:extLst>
              <a:ext uri="{FF2B5EF4-FFF2-40B4-BE49-F238E27FC236}">
                <a16:creationId xmlns:a16="http://schemas.microsoft.com/office/drawing/2014/main" id="{E3308ACA-4BF7-F9C1-2AE8-89093F357817}"/>
              </a:ext>
            </a:extLst>
          </p:cNvPr>
          <p:cNvPicPr>
            <a:picLocks noChangeAspect="1"/>
          </p:cNvPicPr>
          <p:nvPr/>
        </p:nvPicPr>
        <p:blipFill>
          <a:blip r:embed="rId4"/>
          <a:stretch>
            <a:fillRect/>
          </a:stretch>
        </p:blipFill>
        <p:spPr>
          <a:xfrm>
            <a:off x="6271970" y="1227510"/>
            <a:ext cx="5721528" cy="4355305"/>
          </a:xfrm>
          <a:prstGeom prst="rect">
            <a:avLst/>
          </a:prstGeom>
        </p:spPr>
      </p:pic>
      <p:sp>
        <p:nvSpPr>
          <p:cNvPr id="8" name="Content Placeholder 2">
            <a:extLst>
              <a:ext uri="{FF2B5EF4-FFF2-40B4-BE49-F238E27FC236}">
                <a16:creationId xmlns:a16="http://schemas.microsoft.com/office/drawing/2014/main" id="{2E500F0B-1F5E-1DA1-7F15-C01B6828255A}"/>
              </a:ext>
            </a:extLst>
          </p:cNvPr>
          <p:cNvSpPr txBox="1">
            <a:spLocks/>
          </p:cNvSpPr>
          <p:nvPr/>
        </p:nvSpPr>
        <p:spPr>
          <a:xfrm>
            <a:off x="1488805" y="5627208"/>
            <a:ext cx="3469019" cy="483508"/>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ROC-AUC = 0.844</a:t>
            </a:r>
          </a:p>
        </p:txBody>
      </p:sp>
      <p:sp>
        <p:nvSpPr>
          <p:cNvPr id="9" name="Content Placeholder 2">
            <a:extLst>
              <a:ext uri="{FF2B5EF4-FFF2-40B4-BE49-F238E27FC236}">
                <a16:creationId xmlns:a16="http://schemas.microsoft.com/office/drawing/2014/main" id="{C0CDD7FE-C08A-B30C-933A-008E8FA39425}"/>
              </a:ext>
            </a:extLst>
          </p:cNvPr>
          <p:cNvSpPr txBox="1">
            <a:spLocks/>
          </p:cNvSpPr>
          <p:nvPr/>
        </p:nvSpPr>
        <p:spPr>
          <a:xfrm>
            <a:off x="287430" y="6258229"/>
            <a:ext cx="3469019" cy="483508"/>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endParaRPr lang="en-US" dirty="0"/>
          </a:p>
        </p:txBody>
      </p:sp>
    </p:spTree>
    <p:extLst>
      <p:ext uri="{BB962C8B-B14F-4D97-AF65-F5344CB8AC3E}">
        <p14:creationId xmlns:p14="http://schemas.microsoft.com/office/powerpoint/2010/main" val="2259402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E2ED5-E30C-E1CF-8171-C1CAAEA59D39}"/>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134DAF1C-A0A6-E2B7-8027-F74D234D8A06}"/>
              </a:ext>
            </a:extLst>
          </p:cNvPr>
          <p:cNvSpPr>
            <a:spLocks noGrp="1"/>
          </p:cNvSpPr>
          <p:nvPr>
            <p:ph idx="1"/>
          </p:nvPr>
        </p:nvSpPr>
        <p:spPr>
          <a:xfrm>
            <a:off x="913795" y="2115909"/>
            <a:ext cx="10353762" cy="3164016"/>
          </a:xfrm>
        </p:spPr>
        <p:txBody>
          <a:bodyPr/>
          <a:lstStyle/>
          <a:p>
            <a:r>
              <a:rPr lang="en-US" dirty="0"/>
              <a:t>Stroke prediction presented a significant class-imbalance challenge</a:t>
            </a:r>
          </a:p>
          <a:p>
            <a:r>
              <a:rPr lang="en-US" b="1" dirty="0"/>
              <a:t>Logistic Regression</a:t>
            </a:r>
            <a:r>
              <a:rPr lang="en-US" dirty="0"/>
              <a:t> provided the strongest overall balance of performance</a:t>
            </a:r>
          </a:p>
          <a:p>
            <a:r>
              <a:rPr lang="en-US" dirty="0"/>
              <a:t>Final model identified </a:t>
            </a:r>
            <a:r>
              <a:rPr lang="en-US" b="1" dirty="0"/>
              <a:t>80% of stroke cases</a:t>
            </a:r>
          </a:p>
          <a:p>
            <a:r>
              <a:rPr lang="en-US" dirty="0"/>
              <a:t>ROC-AUC: 0.844 | PR-AUC: 0.268</a:t>
            </a:r>
          </a:p>
          <a:p>
            <a:r>
              <a:rPr lang="en-US" dirty="0"/>
              <a:t>High recall came with a tradeoff: </a:t>
            </a:r>
            <a:r>
              <a:rPr lang="en-US" b="1" dirty="0"/>
              <a:t>low precision and many false positives</a:t>
            </a:r>
          </a:p>
          <a:p>
            <a:r>
              <a:rPr lang="en-US" dirty="0"/>
              <a:t>Model is better viewed as a </a:t>
            </a:r>
            <a:r>
              <a:rPr lang="en-US" b="1" dirty="0"/>
              <a:t>potential screening approach</a:t>
            </a:r>
            <a:r>
              <a:rPr lang="en-US" dirty="0"/>
              <a:t>, not a diagnostic tool </a:t>
            </a:r>
          </a:p>
          <a:p>
            <a:pPr marL="36900" indent="0">
              <a:buNone/>
            </a:pPr>
            <a:endParaRPr lang="en-US" dirty="0"/>
          </a:p>
        </p:txBody>
      </p:sp>
    </p:spTree>
    <p:extLst>
      <p:ext uri="{BB962C8B-B14F-4D97-AF65-F5344CB8AC3E}">
        <p14:creationId xmlns:p14="http://schemas.microsoft.com/office/powerpoint/2010/main" val="2411489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E0CA9-D3FE-3C4C-7E73-1401630B59BE}"/>
              </a:ext>
            </a:extLst>
          </p:cNvPr>
          <p:cNvSpPr>
            <a:spLocks noGrp="1"/>
          </p:cNvSpPr>
          <p:nvPr>
            <p:ph type="title"/>
          </p:nvPr>
        </p:nvSpPr>
        <p:spPr/>
        <p:txBody>
          <a:bodyPr/>
          <a:lstStyle/>
          <a:p>
            <a:r>
              <a:rPr lang="en-US" dirty="0"/>
              <a:t>Recommendations</a:t>
            </a:r>
          </a:p>
        </p:txBody>
      </p:sp>
      <p:sp>
        <p:nvSpPr>
          <p:cNvPr id="3" name="Content Placeholder 2">
            <a:extLst>
              <a:ext uri="{FF2B5EF4-FFF2-40B4-BE49-F238E27FC236}">
                <a16:creationId xmlns:a16="http://schemas.microsoft.com/office/drawing/2014/main" id="{6DCDA484-EF33-E586-2D44-1154722CDFAE}"/>
              </a:ext>
            </a:extLst>
          </p:cNvPr>
          <p:cNvSpPr>
            <a:spLocks noGrp="1"/>
          </p:cNvSpPr>
          <p:nvPr>
            <p:ph idx="1"/>
          </p:nvPr>
        </p:nvSpPr>
        <p:spPr>
          <a:xfrm>
            <a:off x="913795" y="2018199"/>
            <a:ext cx="10353762" cy="4058751"/>
          </a:xfrm>
        </p:spPr>
        <p:txBody>
          <a:bodyPr/>
          <a:lstStyle/>
          <a:p>
            <a:r>
              <a:rPr lang="en-US" dirty="0"/>
              <a:t>Use the model as a potential screening/decision-support approach, not as a diagnostic tool</a:t>
            </a:r>
          </a:p>
          <a:p>
            <a:r>
              <a:rPr lang="en-US" dirty="0"/>
              <a:t>Improve precision while maintaining high recall</a:t>
            </a:r>
          </a:p>
          <a:p>
            <a:r>
              <a:rPr lang="en-US" dirty="0"/>
              <a:t>Experiment with classification-threshold adjustment</a:t>
            </a:r>
          </a:p>
          <a:p>
            <a:r>
              <a:rPr lang="en-US" dirty="0"/>
              <a:t>Evaluate additional models and class-imbalance techniques</a:t>
            </a:r>
          </a:p>
          <a:p>
            <a:r>
              <a:rPr lang="en-US" dirty="0"/>
              <a:t>Incorporate additional clinically relevant predictors</a:t>
            </a:r>
          </a:p>
          <a:p>
            <a:r>
              <a:rPr lang="en-US" dirty="0"/>
              <a:t>Validate performance using larger and more representative datasets</a:t>
            </a:r>
          </a:p>
        </p:txBody>
      </p:sp>
    </p:spTree>
    <p:extLst>
      <p:ext uri="{BB962C8B-B14F-4D97-AF65-F5344CB8AC3E}">
        <p14:creationId xmlns:p14="http://schemas.microsoft.com/office/powerpoint/2010/main" val="2960773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Capstone_Final_Slides" id="{B769294C-FDF0-494A-94CE-8A9EFAD7613E}" vid="{3AAAF641-38DA-4CB3-99E4-DAF4FB656E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699</TotalTime>
  <Words>1787</Words>
  <Application>Microsoft Office PowerPoint</Application>
  <PresentationFormat>Widescreen</PresentationFormat>
  <Paragraphs>128</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Calibri</vt:lpstr>
      <vt:lpstr>Calisto MT</vt:lpstr>
      <vt:lpstr>Wingdings 2</vt:lpstr>
      <vt:lpstr>Slate</vt:lpstr>
      <vt:lpstr>Stroke Risk Prediction Analysis</vt:lpstr>
      <vt:lpstr>Problem Statement</vt:lpstr>
      <vt:lpstr>Dataset</vt:lpstr>
      <vt:lpstr>Approach</vt:lpstr>
      <vt:lpstr>EDA: Class Imbalance &amp; Age</vt:lpstr>
      <vt:lpstr>EDA: Other Risk Factors</vt:lpstr>
      <vt:lpstr>Data Preprocessing</vt:lpstr>
      <vt:lpstr>Initial Model Comparison</vt:lpstr>
      <vt:lpstr>Model Tuning &amp; Selection</vt:lpstr>
      <vt:lpstr>Final Model Performance</vt:lpstr>
      <vt:lpstr>Final Model - ROC &amp; Precision-Recall Curves</vt:lpstr>
      <vt:lpstr>Conclusion</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 Lee</dc:creator>
  <cp:lastModifiedBy>Peter Lee</cp:lastModifiedBy>
  <cp:revision>58</cp:revision>
  <dcterms:created xsi:type="dcterms:W3CDTF">2026-04-29T21:28:56Z</dcterms:created>
  <dcterms:modified xsi:type="dcterms:W3CDTF">2026-09-22T22:14:52Z</dcterms:modified>
</cp:coreProperties>
</file>